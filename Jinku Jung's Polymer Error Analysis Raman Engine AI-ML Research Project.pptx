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3" r:id="rId7"/>
    <p:sldId id="269" r:id="rId8"/>
    <p:sldId id="270" r:id="rId9"/>
    <p:sldId id="271" r:id="rId10"/>
    <p:sldId id="262" r:id="rId11"/>
    <p:sldId id="261" r:id="rId12"/>
    <p:sldId id="264" r:id="rId13"/>
    <p:sldId id="265" r:id="rId14"/>
    <p:sldId id="266"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p:scale>
          <a:sx n="88" d="100"/>
          <a:sy n="88" d="100"/>
        </p:scale>
        <p:origin x="-665" y="-69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nku Jung" userId="aadda997e6fb5d6f" providerId="LiveId" clId="{593136CB-76AC-428A-A13F-126B68358ED8}"/>
    <pc:docChg chg="undo custSel addSld modSld sldOrd">
      <pc:chgData name="Jinku Jung" userId="aadda997e6fb5d6f" providerId="LiveId" clId="{593136CB-76AC-428A-A13F-126B68358ED8}" dt="2026-07-13T22:33:36.527" v="6311" actId="1076"/>
      <pc:docMkLst>
        <pc:docMk/>
      </pc:docMkLst>
      <pc:sldChg chg="modSp mod modAnim">
        <pc:chgData name="Jinku Jung" userId="aadda997e6fb5d6f" providerId="LiveId" clId="{593136CB-76AC-428A-A13F-126B68358ED8}" dt="2026-06-30T23:08:07.496" v="5820"/>
        <pc:sldMkLst>
          <pc:docMk/>
          <pc:sldMk cId="4111132954" sldId="256"/>
        </pc:sldMkLst>
        <pc:spChg chg="mod">
          <ac:chgData name="Jinku Jung" userId="aadda997e6fb5d6f" providerId="LiveId" clId="{593136CB-76AC-428A-A13F-126B68358ED8}" dt="2026-06-29T17:34:02.171" v="575" actId="20577"/>
          <ac:spMkLst>
            <pc:docMk/>
            <pc:sldMk cId="4111132954" sldId="256"/>
            <ac:spMk id="2" creationId="{DF66AAB1-5266-078D-75CB-E2BA73922D70}"/>
          </ac:spMkLst>
        </pc:spChg>
        <pc:spChg chg="mod">
          <ac:chgData name="Jinku Jung" userId="aadda997e6fb5d6f" providerId="LiveId" clId="{593136CB-76AC-428A-A13F-126B68358ED8}" dt="2026-06-29T17:35:24.536" v="659" actId="20577"/>
          <ac:spMkLst>
            <pc:docMk/>
            <pc:sldMk cId="4111132954" sldId="256"/>
            <ac:spMk id="3" creationId="{45C4F84E-1145-E953-5E30-740B70C791E3}"/>
          </ac:spMkLst>
        </pc:spChg>
      </pc:sldChg>
      <pc:sldChg chg="modSp mod addAnim delAnim modAnim">
        <pc:chgData name="Jinku Jung" userId="aadda997e6fb5d6f" providerId="LiveId" clId="{593136CB-76AC-428A-A13F-126B68358ED8}" dt="2026-06-30T22:43:15.434" v="5501"/>
        <pc:sldMkLst>
          <pc:docMk/>
          <pc:sldMk cId="2379521885" sldId="257"/>
        </pc:sldMkLst>
        <pc:spChg chg="mod">
          <ac:chgData name="Jinku Jung" userId="aadda997e6fb5d6f" providerId="LiveId" clId="{593136CB-76AC-428A-A13F-126B68358ED8}" dt="2026-06-30T22:39:05.414" v="5481" actId="27636"/>
          <ac:spMkLst>
            <pc:docMk/>
            <pc:sldMk cId="2379521885" sldId="257"/>
            <ac:spMk id="3" creationId="{EB1F9AD1-DE8E-0CC5-C0F5-E327FCDC77CD}"/>
          </ac:spMkLst>
        </pc:spChg>
      </pc:sldChg>
      <pc:sldChg chg="modSp mod modAnim">
        <pc:chgData name="Jinku Jung" userId="aadda997e6fb5d6f" providerId="LiveId" clId="{593136CB-76AC-428A-A13F-126B68358ED8}" dt="2026-06-30T22:45:03.468" v="5505"/>
        <pc:sldMkLst>
          <pc:docMk/>
          <pc:sldMk cId="2325208448" sldId="258"/>
        </pc:sldMkLst>
        <pc:spChg chg="mod">
          <ac:chgData name="Jinku Jung" userId="aadda997e6fb5d6f" providerId="LiveId" clId="{593136CB-76AC-428A-A13F-126B68358ED8}" dt="2026-06-30T22:44:33.572" v="5503" actId="12"/>
          <ac:spMkLst>
            <pc:docMk/>
            <pc:sldMk cId="2325208448" sldId="258"/>
            <ac:spMk id="7" creationId="{19354964-E362-1C3F-4EF2-06E3BB5A9DA4}"/>
          </ac:spMkLst>
        </pc:spChg>
        <pc:graphicFrameChg chg="mod modGraphic">
          <ac:chgData name="Jinku Jung" userId="aadda997e6fb5d6f" providerId="LiveId" clId="{593136CB-76AC-428A-A13F-126B68358ED8}" dt="2026-06-29T17:56:15.945" v="2038" actId="20577"/>
          <ac:graphicFrameMkLst>
            <pc:docMk/>
            <pc:sldMk cId="2325208448" sldId="258"/>
            <ac:graphicFrameMk id="6" creationId="{2883723A-2AD0-D316-9A42-9E2A1E5178AB}"/>
          </ac:graphicFrameMkLst>
        </pc:graphicFrameChg>
      </pc:sldChg>
      <pc:sldChg chg="addSp modSp mod modAnim">
        <pc:chgData name="Jinku Jung" userId="aadda997e6fb5d6f" providerId="LiveId" clId="{593136CB-76AC-428A-A13F-126B68358ED8}" dt="2026-06-30T22:47:10.816" v="5520"/>
        <pc:sldMkLst>
          <pc:docMk/>
          <pc:sldMk cId="2789138384" sldId="259"/>
        </pc:sldMkLst>
        <pc:spChg chg="add mod">
          <ac:chgData name="Jinku Jung" userId="aadda997e6fb5d6f" providerId="LiveId" clId="{593136CB-76AC-428A-A13F-126B68358ED8}" dt="2026-06-29T18:00:48.807" v="2236" actId="1076"/>
          <ac:spMkLst>
            <pc:docMk/>
            <pc:sldMk cId="2789138384" sldId="259"/>
            <ac:spMk id="3" creationId="{2967B68D-4D41-86E4-752A-81F210BB10ED}"/>
          </ac:spMkLst>
        </pc:spChg>
        <pc:picChg chg="mod">
          <ac:chgData name="Jinku Jung" userId="aadda997e6fb5d6f" providerId="LiveId" clId="{593136CB-76AC-428A-A13F-126B68358ED8}" dt="2026-06-29T18:00:01.549" v="2186" actId="1076"/>
          <ac:picMkLst>
            <pc:docMk/>
            <pc:sldMk cId="2789138384" sldId="259"/>
            <ac:picMk id="5" creationId="{C03E1A9A-8352-74FB-DFF0-2BECD870C74E}"/>
          </ac:picMkLst>
        </pc:picChg>
        <pc:picChg chg="mod">
          <ac:chgData name="Jinku Jung" userId="aadda997e6fb5d6f" providerId="LiveId" clId="{593136CB-76AC-428A-A13F-126B68358ED8}" dt="2026-06-29T17:59:56.520" v="2185" actId="1076"/>
          <ac:picMkLst>
            <pc:docMk/>
            <pc:sldMk cId="2789138384" sldId="259"/>
            <ac:picMk id="7" creationId="{F11CF8D6-DCEB-C508-63CE-B25D7AA55C3F}"/>
          </ac:picMkLst>
        </pc:picChg>
      </pc:sldChg>
      <pc:sldChg chg="addSp modSp mod modAnim">
        <pc:chgData name="Jinku Jung" userId="aadda997e6fb5d6f" providerId="LiveId" clId="{593136CB-76AC-428A-A13F-126B68358ED8}" dt="2026-06-30T22:52:27.619" v="5542"/>
        <pc:sldMkLst>
          <pc:docMk/>
          <pc:sldMk cId="3641658203" sldId="260"/>
        </pc:sldMkLst>
        <pc:picChg chg="add mod modCrop">
          <ac:chgData name="Jinku Jung" userId="aadda997e6fb5d6f" providerId="LiveId" clId="{593136CB-76AC-428A-A13F-126B68358ED8}" dt="2026-06-29T18:12:25.732" v="2563" actId="1076"/>
          <ac:picMkLst>
            <pc:docMk/>
            <pc:sldMk cId="3641658203" sldId="260"/>
            <ac:picMk id="3" creationId="{218E136A-D3B4-A14B-6B92-571AE82ED3CE}"/>
          </ac:picMkLst>
        </pc:picChg>
        <pc:picChg chg="mod modCrop">
          <ac:chgData name="Jinku Jung" userId="aadda997e6fb5d6f" providerId="LiveId" clId="{593136CB-76AC-428A-A13F-126B68358ED8}" dt="2026-06-29T18:12:10.701" v="2561" actId="1076"/>
          <ac:picMkLst>
            <pc:docMk/>
            <pc:sldMk cId="3641658203" sldId="260"/>
            <ac:picMk id="4" creationId="{FCB1BDC4-7066-B2D8-7EFF-6CD73C93717C}"/>
          </ac:picMkLst>
        </pc:picChg>
      </pc:sldChg>
      <pc:sldChg chg="addSp delSp modSp new mod modAnim">
        <pc:chgData name="Jinku Jung" userId="aadda997e6fb5d6f" providerId="LiveId" clId="{593136CB-76AC-428A-A13F-126B68358ED8}" dt="2026-06-30T22:59:30.231" v="5706"/>
        <pc:sldMkLst>
          <pc:docMk/>
          <pc:sldMk cId="3962625983" sldId="261"/>
        </pc:sldMkLst>
        <pc:spChg chg="mod">
          <ac:chgData name="Jinku Jung" userId="aadda997e6fb5d6f" providerId="LiveId" clId="{593136CB-76AC-428A-A13F-126B68358ED8}" dt="2026-06-30T21:10:21.202" v="4804" actId="14100"/>
          <ac:spMkLst>
            <pc:docMk/>
            <pc:sldMk cId="3962625983" sldId="261"/>
            <ac:spMk id="2" creationId="{526C9C79-3F2D-8563-591A-831CC8DE5434}"/>
          </ac:spMkLst>
        </pc:spChg>
        <pc:spChg chg="add mod">
          <ac:chgData name="Jinku Jung" userId="aadda997e6fb5d6f" providerId="LiveId" clId="{593136CB-76AC-428A-A13F-126B68358ED8}" dt="2026-06-30T21:10:46.048" v="4810" actId="115"/>
          <ac:spMkLst>
            <pc:docMk/>
            <pc:sldMk cId="3962625983" sldId="261"/>
            <ac:spMk id="4" creationId="{E56292CF-DB17-DCF1-DD6C-E49241AD7AB6}"/>
          </ac:spMkLst>
        </pc:spChg>
        <pc:picChg chg="add mod ord">
          <ac:chgData name="Jinku Jung" userId="aadda997e6fb5d6f" providerId="LiveId" clId="{593136CB-76AC-428A-A13F-126B68358ED8}" dt="2026-06-30T21:10:24.306" v="4805" actId="1076"/>
          <ac:picMkLst>
            <pc:docMk/>
            <pc:sldMk cId="3962625983" sldId="261"/>
            <ac:picMk id="19" creationId="{CB3D84E5-8FF1-7254-620D-4CD3EAE1D475}"/>
          </ac:picMkLst>
        </pc:picChg>
      </pc:sldChg>
      <pc:sldChg chg="addSp delSp modSp new mod ord modAnim">
        <pc:chgData name="Jinku Jung" userId="aadda997e6fb5d6f" providerId="LiveId" clId="{593136CB-76AC-428A-A13F-126B68358ED8}" dt="2026-06-30T22:57:48.904" v="5692" actId="20577"/>
        <pc:sldMkLst>
          <pc:docMk/>
          <pc:sldMk cId="90227217" sldId="262"/>
        </pc:sldMkLst>
        <pc:spChg chg="mod">
          <ac:chgData name="Jinku Jung" userId="aadda997e6fb5d6f" providerId="LiveId" clId="{593136CB-76AC-428A-A13F-126B68358ED8}" dt="2026-06-30T22:56:57.031" v="5679" actId="14100"/>
          <ac:spMkLst>
            <pc:docMk/>
            <pc:sldMk cId="90227217" sldId="262"/>
            <ac:spMk id="2" creationId="{CE3B470C-BDE7-0220-31D2-BD41E9D7F3BA}"/>
          </ac:spMkLst>
        </pc:spChg>
        <pc:spChg chg="add mod">
          <ac:chgData name="Jinku Jung" userId="aadda997e6fb5d6f" providerId="LiveId" clId="{593136CB-76AC-428A-A13F-126B68358ED8}" dt="2026-06-30T22:57:48.904" v="5692" actId="20577"/>
          <ac:spMkLst>
            <pc:docMk/>
            <pc:sldMk cId="90227217" sldId="262"/>
            <ac:spMk id="3" creationId="{E32F22F9-F617-458C-617E-2F21F998FFAE}"/>
          </ac:spMkLst>
        </pc:spChg>
        <pc:picChg chg="add mod">
          <ac:chgData name="Jinku Jung" userId="aadda997e6fb5d6f" providerId="LiveId" clId="{593136CB-76AC-428A-A13F-126B68358ED8}" dt="2026-06-30T22:57:34.727" v="5691" actId="14100"/>
          <ac:picMkLst>
            <pc:docMk/>
            <pc:sldMk cId="90227217" sldId="262"/>
            <ac:picMk id="14" creationId="{01873716-1257-8157-2137-2BC6A7AFFC3F}"/>
          </ac:picMkLst>
        </pc:picChg>
      </pc:sldChg>
      <pc:sldChg chg="addSp delSp modSp new mod ord">
        <pc:chgData name="Jinku Jung" userId="aadda997e6fb5d6f" providerId="LiveId" clId="{593136CB-76AC-428A-A13F-126B68358ED8}" dt="2026-06-30T19:18:18.320" v="3717" actId="20577"/>
        <pc:sldMkLst>
          <pc:docMk/>
          <pc:sldMk cId="3846254408" sldId="263"/>
        </pc:sldMkLst>
        <pc:spChg chg="mod">
          <ac:chgData name="Jinku Jung" userId="aadda997e6fb5d6f" providerId="LiveId" clId="{593136CB-76AC-428A-A13F-126B68358ED8}" dt="2026-06-30T19:12:24.767" v="3503" actId="14100"/>
          <ac:spMkLst>
            <pc:docMk/>
            <pc:sldMk cId="3846254408" sldId="263"/>
            <ac:spMk id="2" creationId="{9143FA7A-1F25-4AE8-7E63-9F498071B4EE}"/>
          </ac:spMkLst>
        </pc:spChg>
        <pc:spChg chg="add mod">
          <ac:chgData name="Jinku Jung" userId="aadda997e6fb5d6f" providerId="LiveId" clId="{593136CB-76AC-428A-A13F-126B68358ED8}" dt="2026-06-30T19:18:18.320" v="3717" actId="20577"/>
          <ac:spMkLst>
            <pc:docMk/>
            <pc:sldMk cId="3846254408" sldId="263"/>
            <ac:spMk id="3" creationId="{C23A0F26-9A71-FBA2-3B8A-60C68ECF2F8F}"/>
          </ac:spMkLst>
        </pc:spChg>
        <pc:picChg chg="add mod ord">
          <ac:chgData name="Jinku Jung" userId="aadda997e6fb5d6f" providerId="LiveId" clId="{593136CB-76AC-428A-A13F-126B68358ED8}" dt="2026-06-30T19:13:47.974" v="3534" actId="14100"/>
          <ac:picMkLst>
            <pc:docMk/>
            <pc:sldMk cId="3846254408" sldId="263"/>
            <ac:picMk id="5" creationId="{6BC57A0E-8BC5-FC67-7095-DE85099C00CC}"/>
          </ac:picMkLst>
        </pc:picChg>
      </pc:sldChg>
      <pc:sldChg chg="addSp delSp modSp new mod ord modAnim">
        <pc:chgData name="Jinku Jung" userId="aadda997e6fb5d6f" providerId="LiveId" clId="{593136CB-76AC-428A-A13F-126B68358ED8}" dt="2026-06-30T23:00:25.481" v="5714"/>
        <pc:sldMkLst>
          <pc:docMk/>
          <pc:sldMk cId="2330661871" sldId="264"/>
        </pc:sldMkLst>
        <pc:spChg chg="mod">
          <ac:chgData name="Jinku Jung" userId="aadda997e6fb5d6f" providerId="LiveId" clId="{593136CB-76AC-428A-A13F-126B68358ED8}" dt="2026-06-30T22:23:24.428" v="5216" actId="27636"/>
          <ac:spMkLst>
            <pc:docMk/>
            <pc:sldMk cId="2330661871" sldId="264"/>
            <ac:spMk id="2" creationId="{ACAC4A19-D48E-BEA7-EB29-60505D0B589D}"/>
          </ac:spMkLst>
        </pc:spChg>
        <pc:spChg chg="add mod">
          <ac:chgData name="Jinku Jung" userId="aadda997e6fb5d6f" providerId="LiveId" clId="{593136CB-76AC-428A-A13F-126B68358ED8}" dt="2026-06-30T22:29:31.007" v="5396" actId="20577"/>
          <ac:spMkLst>
            <pc:docMk/>
            <pc:sldMk cId="2330661871" sldId="264"/>
            <ac:spMk id="3" creationId="{DD5899A0-A2B9-A37F-0864-2B4BC539C1FE}"/>
          </ac:spMkLst>
        </pc:spChg>
        <pc:picChg chg="add mod ord">
          <ac:chgData name="Jinku Jung" userId="aadda997e6fb5d6f" providerId="LiveId" clId="{593136CB-76AC-428A-A13F-126B68358ED8}" dt="2026-06-30T22:24:27.582" v="5232" actId="14100"/>
          <ac:picMkLst>
            <pc:docMk/>
            <pc:sldMk cId="2330661871" sldId="264"/>
            <ac:picMk id="9" creationId="{AB093C6B-E838-D300-7914-3EEE3556A359}"/>
          </ac:picMkLst>
        </pc:picChg>
      </pc:sldChg>
      <pc:sldChg chg="addSp delSp modSp new mod modAnim">
        <pc:chgData name="Jinku Jung" userId="aadda997e6fb5d6f" providerId="LiveId" clId="{593136CB-76AC-428A-A13F-126B68358ED8}" dt="2026-06-30T23:00:57.126" v="5716"/>
        <pc:sldMkLst>
          <pc:docMk/>
          <pc:sldMk cId="4234624834" sldId="265"/>
        </pc:sldMkLst>
        <pc:spChg chg="mod">
          <ac:chgData name="Jinku Jung" userId="aadda997e6fb5d6f" providerId="LiveId" clId="{593136CB-76AC-428A-A13F-126B68358ED8}" dt="2026-06-29T18:15:25.074" v="2660" actId="20577"/>
          <ac:spMkLst>
            <pc:docMk/>
            <pc:sldMk cId="4234624834" sldId="265"/>
            <ac:spMk id="2" creationId="{29AF42A0-C607-9953-8DEF-C66CA4957517}"/>
          </ac:spMkLst>
        </pc:spChg>
        <pc:picChg chg="add mod ord">
          <ac:chgData name="Jinku Jung" userId="aadda997e6fb5d6f" providerId="LiveId" clId="{593136CB-76AC-428A-A13F-126B68358ED8}" dt="2026-06-22T23:36:45.530" v="245" actId="27614"/>
          <ac:picMkLst>
            <pc:docMk/>
            <pc:sldMk cId="4234624834" sldId="265"/>
            <ac:picMk id="9" creationId="{33860AAF-7429-CF3A-BD2E-13D1490D0D3C}"/>
          </ac:picMkLst>
        </pc:picChg>
      </pc:sldChg>
      <pc:sldChg chg="addSp delSp modSp new mod modAnim">
        <pc:chgData name="Jinku Jung" userId="aadda997e6fb5d6f" providerId="LiveId" clId="{593136CB-76AC-428A-A13F-126B68358ED8}" dt="2026-06-30T23:02:24.263" v="5778" actId="14100"/>
        <pc:sldMkLst>
          <pc:docMk/>
          <pc:sldMk cId="3519456900" sldId="266"/>
        </pc:sldMkLst>
        <pc:spChg chg="mod">
          <ac:chgData name="Jinku Jung" userId="aadda997e6fb5d6f" providerId="LiveId" clId="{593136CB-76AC-428A-A13F-126B68358ED8}" dt="2026-06-30T23:01:51.299" v="5736" actId="14100"/>
          <ac:spMkLst>
            <pc:docMk/>
            <pc:sldMk cId="3519456900" sldId="266"/>
            <ac:spMk id="2" creationId="{A351AE20-2F1A-E576-8EEA-1D82498F864C}"/>
          </ac:spMkLst>
        </pc:spChg>
        <pc:picChg chg="add mod ord">
          <ac:chgData name="Jinku Jung" userId="aadda997e6fb5d6f" providerId="LiveId" clId="{593136CB-76AC-428A-A13F-126B68358ED8}" dt="2026-06-30T23:02:24.263" v="5778" actId="14100"/>
          <ac:picMkLst>
            <pc:docMk/>
            <pc:sldMk cId="3519456900" sldId="266"/>
            <ac:picMk id="9" creationId="{FD41AE93-7B12-80EA-A85E-6EC7F52CDD94}"/>
          </ac:picMkLst>
        </pc:picChg>
      </pc:sldChg>
      <pc:sldChg chg="addSp delSp modSp new mod modAnim">
        <pc:chgData name="Jinku Jung" userId="aadda997e6fb5d6f" providerId="LiveId" clId="{593136CB-76AC-428A-A13F-126B68358ED8}" dt="2026-06-30T23:03:57.449" v="5805"/>
        <pc:sldMkLst>
          <pc:docMk/>
          <pc:sldMk cId="1689976772" sldId="267"/>
        </pc:sldMkLst>
        <pc:spChg chg="mod">
          <ac:chgData name="Jinku Jung" userId="aadda997e6fb5d6f" providerId="LiveId" clId="{593136CB-76AC-428A-A13F-126B68358ED8}" dt="2026-06-30T22:30:23.725" v="5398" actId="14100"/>
          <ac:spMkLst>
            <pc:docMk/>
            <pc:sldMk cId="1689976772" sldId="267"/>
            <ac:spMk id="2" creationId="{0E93787D-B5D0-B43E-9C64-E9F9137641AD}"/>
          </ac:spMkLst>
        </pc:spChg>
        <pc:picChg chg="add mod ord">
          <ac:chgData name="Jinku Jung" userId="aadda997e6fb5d6f" providerId="LiveId" clId="{593136CB-76AC-428A-A13F-126B68358ED8}" dt="2026-06-30T23:03:05.135" v="5800" actId="14100"/>
          <ac:picMkLst>
            <pc:docMk/>
            <pc:sldMk cId="1689976772" sldId="267"/>
            <ac:picMk id="9" creationId="{5B40DA0F-7A03-60CB-CEC0-647D4D0FA75D}"/>
          </ac:picMkLst>
        </pc:picChg>
      </pc:sldChg>
      <pc:sldChg chg="addSp delSp modSp new mod modAnim">
        <pc:chgData name="Jinku Jung" userId="aadda997e6fb5d6f" providerId="LiveId" clId="{593136CB-76AC-428A-A13F-126B68358ED8}" dt="2026-06-30T23:05:47.604" v="5814"/>
        <pc:sldMkLst>
          <pc:docMk/>
          <pc:sldMk cId="537420700" sldId="268"/>
        </pc:sldMkLst>
        <pc:spChg chg="mod">
          <ac:chgData name="Jinku Jung" userId="aadda997e6fb5d6f" providerId="LiveId" clId="{593136CB-76AC-428A-A13F-126B68358ED8}" dt="2026-06-29T18:30:49.676" v="3330" actId="14100"/>
          <ac:spMkLst>
            <pc:docMk/>
            <pc:sldMk cId="537420700" sldId="268"/>
            <ac:spMk id="2" creationId="{6E8E4DDD-22F4-C863-4B36-3314561546F8}"/>
          </ac:spMkLst>
        </pc:spChg>
        <pc:spChg chg="add mod">
          <ac:chgData name="Jinku Jung" userId="aadda997e6fb5d6f" providerId="LiveId" clId="{593136CB-76AC-428A-A13F-126B68358ED8}" dt="2026-06-30T22:33:20.326" v="5453" actId="115"/>
          <ac:spMkLst>
            <pc:docMk/>
            <pc:sldMk cId="537420700" sldId="268"/>
            <ac:spMk id="3" creationId="{1AD1CCF1-5A30-09CF-CB75-A68E60D11B98}"/>
          </ac:spMkLst>
        </pc:spChg>
        <pc:picChg chg="add mod ord">
          <ac:chgData name="Jinku Jung" userId="aadda997e6fb5d6f" providerId="LiveId" clId="{593136CB-76AC-428A-A13F-126B68358ED8}" dt="2026-06-29T18:32:08.867" v="3345" actId="14100"/>
          <ac:picMkLst>
            <pc:docMk/>
            <pc:sldMk cId="537420700" sldId="268"/>
            <ac:picMk id="11" creationId="{C6B34D98-9E7F-D8F0-7E32-D2E8AE14CC82}"/>
          </ac:picMkLst>
        </pc:picChg>
      </pc:sldChg>
      <pc:sldChg chg="addSp delSp modSp new mod">
        <pc:chgData name="Jinku Jung" userId="aadda997e6fb5d6f" providerId="LiveId" clId="{593136CB-76AC-428A-A13F-126B68358ED8}" dt="2026-07-13T22:33:36.527" v="6311" actId="1076"/>
        <pc:sldMkLst>
          <pc:docMk/>
          <pc:sldMk cId="3545744306" sldId="269"/>
        </pc:sldMkLst>
        <pc:spChg chg="mod">
          <ac:chgData name="Jinku Jung" userId="aadda997e6fb5d6f" providerId="LiveId" clId="{593136CB-76AC-428A-A13F-126B68358ED8}" dt="2026-07-13T22:21:30.983" v="5880" actId="20577"/>
          <ac:spMkLst>
            <pc:docMk/>
            <pc:sldMk cId="3545744306" sldId="269"/>
            <ac:spMk id="2" creationId="{499F1B63-8EFE-CD4F-87E9-32D68674C0E5}"/>
          </ac:spMkLst>
        </pc:spChg>
        <pc:spChg chg="del">
          <ac:chgData name="Jinku Jung" userId="aadda997e6fb5d6f" providerId="LiveId" clId="{593136CB-76AC-428A-A13F-126B68358ED8}" dt="2026-07-13T22:21:40.368" v="5881" actId="22"/>
          <ac:spMkLst>
            <pc:docMk/>
            <pc:sldMk cId="3545744306" sldId="269"/>
            <ac:spMk id="3" creationId="{C388F4C1-2F7A-F3DE-010B-0260BE352A7F}"/>
          </ac:spMkLst>
        </pc:spChg>
        <pc:picChg chg="add mod ord">
          <ac:chgData name="Jinku Jung" userId="aadda997e6fb5d6f" providerId="LiveId" clId="{593136CB-76AC-428A-A13F-126B68358ED8}" dt="2026-07-13T22:33:33.665" v="6310" actId="1076"/>
          <ac:picMkLst>
            <pc:docMk/>
            <pc:sldMk cId="3545744306" sldId="269"/>
            <ac:picMk id="5" creationId="{952C76AE-4A6B-222A-062C-726CD256E672}"/>
          </ac:picMkLst>
        </pc:picChg>
        <pc:picChg chg="add mod">
          <ac:chgData name="Jinku Jung" userId="aadda997e6fb5d6f" providerId="LiveId" clId="{593136CB-76AC-428A-A13F-126B68358ED8}" dt="2026-07-13T22:33:36.527" v="6311" actId="1076"/>
          <ac:picMkLst>
            <pc:docMk/>
            <pc:sldMk cId="3545744306" sldId="269"/>
            <ac:picMk id="7" creationId="{0A8028BA-15B9-2380-1B74-5EB05A07D548}"/>
          </ac:picMkLst>
        </pc:picChg>
      </pc:sldChg>
      <pc:sldChg chg="modSp new mod">
        <pc:chgData name="Jinku Jung" userId="aadda997e6fb5d6f" providerId="LiveId" clId="{593136CB-76AC-428A-A13F-126B68358ED8}" dt="2026-07-13T22:29:08.695" v="6146" actId="20577"/>
        <pc:sldMkLst>
          <pc:docMk/>
          <pc:sldMk cId="3160436566" sldId="270"/>
        </pc:sldMkLst>
        <pc:spChg chg="mod">
          <ac:chgData name="Jinku Jung" userId="aadda997e6fb5d6f" providerId="LiveId" clId="{593136CB-76AC-428A-A13F-126B68358ED8}" dt="2026-07-13T22:29:08.695" v="6146" actId="20577"/>
          <ac:spMkLst>
            <pc:docMk/>
            <pc:sldMk cId="3160436566" sldId="270"/>
            <ac:spMk id="2" creationId="{2F3E8CBC-D9F7-EB84-7EA4-E435D4EFA50D}"/>
          </ac:spMkLst>
        </pc:spChg>
        <pc:spChg chg="mod">
          <ac:chgData name="Jinku Jung" userId="aadda997e6fb5d6f" providerId="LiveId" clId="{593136CB-76AC-428A-A13F-126B68358ED8}" dt="2026-07-13T22:28:44.742" v="6124" actId="20577"/>
          <ac:spMkLst>
            <pc:docMk/>
            <pc:sldMk cId="3160436566" sldId="270"/>
            <ac:spMk id="3" creationId="{E330D033-F02B-A56B-4FBD-B692DF6B69BF}"/>
          </ac:spMkLst>
        </pc:spChg>
      </pc:sldChg>
      <pc:sldChg chg="modSp new mod">
        <pc:chgData name="Jinku Jung" userId="aadda997e6fb5d6f" providerId="LiveId" clId="{593136CB-76AC-428A-A13F-126B68358ED8}" dt="2026-07-13T22:31:46.020" v="6309" actId="20577"/>
        <pc:sldMkLst>
          <pc:docMk/>
          <pc:sldMk cId="1763730179" sldId="271"/>
        </pc:sldMkLst>
        <pc:spChg chg="mod">
          <ac:chgData name="Jinku Jung" userId="aadda997e6fb5d6f" providerId="LiveId" clId="{593136CB-76AC-428A-A13F-126B68358ED8}" dt="2026-07-13T22:29:14.983" v="6147" actId="20577"/>
          <ac:spMkLst>
            <pc:docMk/>
            <pc:sldMk cId="1763730179" sldId="271"/>
            <ac:spMk id="2" creationId="{680631E1-E937-4BB3-732D-5E1621E15828}"/>
          </ac:spMkLst>
        </pc:spChg>
        <pc:spChg chg="mod">
          <ac:chgData name="Jinku Jung" userId="aadda997e6fb5d6f" providerId="LiveId" clId="{593136CB-76AC-428A-A13F-126B68358ED8}" dt="2026-07-13T22:31:46.020" v="6309" actId="20577"/>
          <ac:spMkLst>
            <pc:docMk/>
            <pc:sldMk cId="1763730179" sldId="271"/>
            <ac:spMk id="3" creationId="{EA0761D3-A606-6EF8-E541-0D591417E72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dirty="0"/>
              <a:pPr/>
              <a:t>7/13/2026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pPr/>
              <a:t>7/13/2026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media" Target="../media/media2.m4a"/><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slideLayout" Target="../slideLayouts/slideLayout1.xml"/><Relationship Id="rId4" Type="http://schemas.openxmlformats.org/officeDocument/2006/relationships/audio" Target="../media/media2.m4a"/></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6AAB1-5266-078D-75CB-E2BA73922D70}"/>
              </a:ext>
            </a:extLst>
          </p:cNvPr>
          <p:cNvSpPr>
            <a:spLocks noGrp="1"/>
          </p:cNvSpPr>
          <p:nvPr>
            <p:ph type="ctrTitle"/>
          </p:nvPr>
        </p:nvSpPr>
        <p:spPr/>
        <p:txBody>
          <a:bodyPr>
            <a:normAutofit/>
          </a:bodyPr>
          <a:lstStyle/>
          <a:p>
            <a:r>
              <a:rPr lang="en-US" b="1" dirty="0"/>
              <a:t>AI-Driven polymer aging prediction using </a:t>
            </a:r>
            <a:r>
              <a:rPr lang="en-US" b="1" dirty="0" err="1"/>
              <a:t>raman</a:t>
            </a:r>
            <a:r>
              <a:rPr lang="en-US" b="1" dirty="0"/>
              <a:t> spectroscopy</a:t>
            </a:r>
            <a:endParaRPr lang="en-US" dirty="0"/>
          </a:p>
        </p:txBody>
      </p:sp>
      <p:sp>
        <p:nvSpPr>
          <p:cNvPr id="3" name="Subtitle 2">
            <a:extLst>
              <a:ext uri="{FF2B5EF4-FFF2-40B4-BE49-F238E27FC236}">
                <a16:creationId xmlns:a16="http://schemas.microsoft.com/office/drawing/2014/main" id="{45C4F84E-1145-E953-5E30-740B70C791E3}"/>
              </a:ext>
            </a:extLst>
          </p:cNvPr>
          <p:cNvSpPr>
            <a:spLocks noGrp="1"/>
          </p:cNvSpPr>
          <p:nvPr>
            <p:ph type="subTitle" idx="1"/>
          </p:nvPr>
        </p:nvSpPr>
        <p:spPr>
          <a:xfrm>
            <a:off x="1751012" y="3886199"/>
            <a:ext cx="8676222" cy="2498725"/>
          </a:xfrm>
        </p:spPr>
        <p:txBody>
          <a:bodyPr/>
          <a:lstStyle/>
          <a:p>
            <a:r>
              <a:rPr lang="en-US" b="1" dirty="0"/>
              <a:t>Predicting polymer aging and recyclability through machine learning</a:t>
            </a:r>
          </a:p>
          <a:p>
            <a:endParaRPr lang="en-US" dirty="0"/>
          </a:p>
          <a:p>
            <a:r>
              <a:rPr lang="en-US" dirty="0"/>
              <a:t>Presented by:	Jinku Jung and Professor </a:t>
            </a:r>
            <a:r>
              <a:rPr lang="en-US" dirty="0" err="1"/>
              <a:t>Sanmukh</a:t>
            </a:r>
            <a:r>
              <a:rPr lang="en-US" dirty="0"/>
              <a:t> </a:t>
            </a:r>
            <a:r>
              <a:rPr lang="en-US" dirty="0" err="1"/>
              <a:t>Kuppannagari</a:t>
            </a:r>
            <a:endParaRPr lang="en-US" dirty="0"/>
          </a:p>
          <a:p>
            <a:r>
              <a:rPr lang="en-US" dirty="0"/>
              <a:t>For:	Summer AIRE Project 2026</a:t>
            </a:r>
          </a:p>
        </p:txBody>
      </p:sp>
      <p:pic>
        <p:nvPicPr>
          <p:cNvPr id="4" name="Closer to God?">
            <a:hlinkClick r:id="" action="ppaction://media"/>
            <a:extLst>
              <a:ext uri="{FF2B5EF4-FFF2-40B4-BE49-F238E27FC236}">
                <a16:creationId xmlns:a16="http://schemas.microsoft.com/office/drawing/2014/main" id="{5EF352D0-BA61-635D-18B4-6BD37496A51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5851525" y="3184525"/>
            <a:ext cx="487363" cy="487363"/>
          </a:xfrm>
          <a:prstGeom prst="rect">
            <a:avLst/>
          </a:prstGeom>
        </p:spPr>
      </p:pic>
      <p:pic>
        <p:nvPicPr>
          <p:cNvPr id="5" name="Closer to God">
            <a:hlinkClick r:id="" action="ppaction://media"/>
            <a:extLst>
              <a:ext uri="{FF2B5EF4-FFF2-40B4-BE49-F238E27FC236}">
                <a16:creationId xmlns:a16="http://schemas.microsoft.com/office/drawing/2014/main" id="{652D328D-B28E-3048-E8A8-F28B8ADF8FCF}"/>
              </a:ext>
            </a:extLst>
          </p:cNvPr>
          <p:cNvPicPr>
            <a:picLocks noChangeAspect="1"/>
          </p:cNvPicPr>
          <p:nvPr>
            <a:audioFile r:link="rId4"/>
            <p:extLst>
              <p:ext uri="{DAA4B4D4-6D71-4841-9C94-3DE7FCFB9230}">
                <p14:media xmlns:p14="http://schemas.microsoft.com/office/powerpoint/2010/main" r:embed="rId3"/>
              </p:ext>
            </p:extLst>
          </p:nvPr>
        </p:nvPicPr>
        <p:blipFill>
          <a:blip r:embed="rId6"/>
          <a:stretch>
            <a:fillRect/>
          </a:stretch>
        </p:blipFill>
        <p:spPr>
          <a:xfrm>
            <a:off x="5851525" y="3184525"/>
            <a:ext cx="487363" cy="487363"/>
          </a:xfrm>
          <a:prstGeom prst="rect">
            <a:avLst/>
          </a:prstGeom>
        </p:spPr>
      </p:pic>
    </p:spTree>
    <p:extLst>
      <p:ext uri="{BB962C8B-B14F-4D97-AF65-F5344CB8AC3E}">
        <p14:creationId xmlns:p14="http://schemas.microsoft.com/office/powerpoint/2010/main" val="4111132954"/>
      </p:ext>
    </p:extLst>
  </p:cSld>
  <p:clrMapOvr>
    <a:masterClrMapping/>
  </p:clrMapOvr>
  <mc:AlternateContent xmlns:mc="http://schemas.openxmlformats.org/markup-compatibility/2006" xmlns:p14="http://schemas.microsoft.com/office/powerpoint/2010/main">
    <mc:Choice Requires="p14">
      <p:transition spd="slow" p14:dur="2000" advTm="88501"/>
    </mc:Choice>
    <mc:Fallback xmlns="">
      <p:transition spd="slow" advTm="885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26" fill="hold" display="0">
                  <p:stCondLst>
                    <p:cond delay="indefinite"/>
                  </p:stCondLst>
                  <p:endCondLst>
                    <p:cond evt="onStopAudio" delay="0">
                      <p:tgtEl>
                        <p:sldTgt/>
                      </p:tgtEl>
                    </p:cond>
                  </p:endCondLst>
                </p:cTn>
                <p:tgtEl>
                  <p:spTgt spid="4"/>
                </p:tgtEl>
              </p:cMediaNode>
            </p:audio>
            <p:audio>
              <p:cMediaNode vol="80000">
                <p:cTn id="27" fill="hold" display="0">
                  <p:stCondLst>
                    <p:cond delay="indefinite"/>
                  </p:stCondLst>
                  <p:endCondLst>
                    <p:cond evt="onStopAudio" delay="0">
                      <p:tgtEl>
                        <p:sldTgt/>
                      </p:tgtEl>
                    </p:cond>
                  </p:endCondLst>
                </p:cTn>
                <p:tgtEl>
                  <p:spTgt spid="5"/>
                </p:tgtEl>
              </p:cMediaNode>
            </p:audio>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70C64-20EE-8B54-7A18-8CA25700C39B}"/>
              </a:ext>
            </a:extLst>
          </p:cNvPr>
          <p:cNvSpPr>
            <a:spLocks noGrp="1"/>
          </p:cNvSpPr>
          <p:nvPr>
            <p:ph type="title"/>
          </p:nvPr>
        </p:nvSpPr>
        <p:spPr>
          <a:xfrm>
            <a:off x="1141413" y="609600"/>
            <a:ext cx="9905998" cy="1112520"/>
          </a:xfrm>
        </p:spPr>
        <p:txBody>
          <a:bodyPr/>
          <a:lstStyle/>
          <a:p>
            <a:r>
              <a:rPr lang="en-US" b="1" dirty="0"/>
              <a:t>AI-Driven Polymer Aging Prediction and Classification System</a:t>
            </a:r>
          </a:p>
        </p:txBody>
      </p:sp>
      <p:sp>
        <p:nvSpPr>
          <p:cNvPr id="3" name="Content Placeholder 2">
            <a:extLst>
              <a:ext uri="{FF2B5EF4-FFF2-40B4-BE49-F238E27FC236}">
                <a16:creationId xmlns:a16="http://schemas.microsoft.com/office/drawing/2014/main" id="{EB1F9AD1-DE8E-0CC5-C0F5-E327FCDC77CD}"/>
              </a:ext>
            </a:extLst>
          </p:cNvPr>
          <p:cNvSpPr>
            <a:spLocks noGrp="1"/>
          </p:cNvSpPr>
          <p:nvPr>
            <p:ph idx="1"/>
          </p:nvPr>
        </p:nvSpPr>
        <p:spPr>
          <a:xfrm>
            <a:off x="1141413" y="2118360"/>
            <a:ext cx="9905998" cy="4259579"/>
          </a:xfrm>
        </p:spPr>
        <p:txBody>
          <a:bodyPr anchor="t">
            <a:normAutofit fontScale="85000" lnSpcReduction="20000"/>
          </a:bodyPr>
          <a:lstStyle/>
          <a:p>
            <a:r>
              <a:rPr lang="en-US" dirty="0"/>
              <a:t>Goal: To predict polymer aging from Raman spectra</a:t>
            </a:r>
          </a:p>
          <a:p>
            <a:pPr lvl="1"/>
            <a:r>
              <a:rPr lang="en-US" dirty="0"/>
              <a:t>Why it matters (project rationale):</a:t>
            </a:r>
          </a:p>
          <a:p>
            <a:pPr lvl="2"/>
            <a:r>
              <a:rPr lang="en-US" dirty="0"/>
              <a:t>Better recycling decisions are possible.</a:t>
            </a:r>
          </a:p>
          <a:p>
            <a:pPr lvl="2"/>
            <a:r>
              <a:rPr lang="en-US" dirty="0"/>
              <a:t>Faster material characterization in monomer-chain transfer monomer reaction analysis.</a:t>
            </a:r>
          </a:p>
          <a:p>
            <a:pPr lvl="2"/>
            <a:r>
              <a:rPr lang="en-US" dirty="0"/>
              <a:t>Reproducible AI workflow: For </a:t>
            </a:r>
            <a:r>
              <a:rPr lang="en-US" dirty="0" err="1"/>
              <a:t>ia</a:t>
            </a:r>
            <a:r>
              <a:rPr lang="en-US" dirty="0"/>
              <a:t> </a:t>
            </a:r>
            <a:r>
              <a:rPr lang="en-US" dirty="0" err="1"/>
              <a:t>hpc</a:t>
            </a:r>
            <a:r>
              <a:rPr lang="en-US" dirty="0"/>
              <a:t>-bound datasets (to OSC, Case, or Microsoft Azure), using </a:t>
            </a:r>
            <a:r>
              <a:rPr lang="en-US" dirty="0" err="1"/>
              <a:t>pytorch</a:t>
            </a:r>
            <a:r>
              <a:rPr lang="en-US" dirty="0"/>
              <a:t>, </a:t>
            </a:r>
            <a:r>
              <a:rPr lang="en-US" dirty="0" err="1"/>
              <a:t>tensorflow</a:t>
            </a:r>
            <a:r>
              <a:rPr lang="en-US" dirty="0"/>
              <a:t>, and </a:t>
            </a:r>
            <a:r>
              <a:rPr lang="en-US" dirty="0" err="1"/>
              <a:t>conda</a:t>
            </a:r>
            <a:r>
              <a:rPr lang="en-US" dirty="0"/>
              <a:t> code can balance the  workload of empirically observed reaction values</a:t>
            </a:r>
            <a:r>
              <a:rPr lang="en-US" dirty="0">
                <a:sym typeface="Wingdings" panose="05000000000000000000" pitchFamily="2" charset="2"/>
              </a:rPr>
              <a:t>.</a:t>
            </a:r>
          </a:p>
          <a:p>
            <a:pPr lvl="2"/>
            <a:r>
              <a:rPr lang="en-US" dirty="0"/>
              <a:t>for input parameters to be computed remotely and not crash/lock up your laptop for 500 input values</a:t>
            </a:r>
            <a:r>
              <a:rPr lang="en-US" dirty="0">
                <a:sym typeface="Wingdings" panose="05000000000000000000" pitchFamily="2" charset="2"/>
              </a:rPr>
              <a:t></a:t>
            </a:r>
            <a:r>
              <a:rPr lang="en-US" dirty="0"/>
              <a:t>5.95 hours on a laptop-based intel core ultra 7 </a:t>
            </a:r>
            <a:r>
              <a:rPr lang="en-US" dirty="0" err="1"/>
              <a:t>cpu</a:t>
            </a:r>
            <a:r>
              <a:rPr lang="en-US" dirty="0"/>
              <a:t>.</a:t>
            </a:r>
          </a:p>
          <a:p>
            <a:pPr lvl="2"/>
            <a:r>
              <a:rPr lang="en-US" dirty="0"/>
              <a:t>This code is extensible to </a:t>
            </a:r>
            <a:r>
              <a:rPr lang="en-US" dirty="0" err="1"/>
              <a:t>nvidia</a:t>
            </a:r>
            <a:r>
              <a:rPr lang="en-US" dirty="0"/>
              <a:t> </a:t>
            </a:r>
            <a:r>
              <a:rPr lang="en-US" dirty="0" err="1"/>
              <a:t>gpu</a:t>
            </a:r>
            <a:r>
              <a:rPr lang="en-US" dirty="0"/>
              <a:t> </a:t>
            </a:r>
            <a:r>
              <a:rPr lang="en-US" dirty="0" err="1"/>
              <a:t>cuda</a:t>
            </a:r>
            <a:r>
              <a:rPr lang="en-US" dirty="0"/>
              <a:t> core computation to save computing time of the average medical researcher running pet-raft </a:t>
            </a:r>
            <a:r>
              <a:rPr lang="en-US" dirty="0" err="1"/>
              <a:t>ctm</a:t>
            </a:r>
            <a:r>
              <a:rPr lang="en-US" dirty="0"/>
              <a:t> kinetic reaction data analysis: the real magic of artificial intelligence/machine learning based computer programming source code and remote </a:t>
            </a:r>
            <a:r>
              <a:rPr lang="en-US" dirty="0" err="1"/>
              <a:t>hpc</a:t>
            </a:r>
            <a:r>
              <a:rPr lang="en-US" dirty="0"/>
              <a:t> </a:t>
            </a:r>
            <a:r>
              <a:rPr lang="en-US" dirty="0" err="1"/>
              <a:t>gpu</a:t>
            </a:r>
            <a:r>
              <a:rPr lang="en-US" dirty="0"/>
              <a:t> computing in tandem—if and when necessary and appropriate.</a:t>
            </a:r>
          </a:p>
          <a:p>
            <a:pPr lvl="1"/>
            <a:r>
              <a:rPr lang="en-US" dirty="0"/>
              <a:t>Long-term Vision:</a:t>
            </a:r>
          </a:p>
          <a:p>
            <a:pPr lvl="2"/>
            <a:r>
              <a:rPr lang="en-US" dirty="0"/>
              <a:t>Raman</a:t>
            </a:r>
          </a:p>
          <a:p>
            <a:pPr lvl="2"/>
            <a:r>
              <a:rPr lang="en-US" dirty="0"/>
              <a:t>FTIR</a:t>
            </a:r>
          </a:p>
          <a:p>
            <a:pPr lvl="2"/>
            <a:r>
              <a:rPr lang="en-US" dirty="0"/>
              <a:t>Image-based models</a:t>
            </a:r>
          </a:p>
        </p:txBody>
      </p:sp>
    </p:spTree>
    <p:extLst>
      <p:ext uri="{BB962C8B-B14F-4D97-AF65-F5344CB8AC3E}">
        <p14:creationId xmlns:p14="http://schemas.microsoft.com/office/powerpoint/2010/main" val="2379521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3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3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3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3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3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3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3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3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3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3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3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19ACA-06B8-0E16-A583-0694FB150A60}"/>
              </a:ext>
            </a:extLst>
          </p:cNvPr>
          <p:cNvSpPr>
            <a:spLocks noGrp="1"/>
          </p:cNvSpPr>
          <p:nvPr>
            <p:ph type="title"/>
          </p:nvPr>
        </p:nvSpPr>
        <p:spPr>
          <a:xfrm>
            <a:off x="1141413" y="609600"/>
            <a:ext cx="9905998" cy="1165860"/>
          </a:xfrm>
        </p:spPr>
        <p:txBody>
          <a:bodyPr/>
          <a:lstStyle/>
          <a:p>
            <a:r>
              <a:rPr lang="en-US" b="1" dirty="0"/>
              <a:t>Model Architectures</a:t>
            </a:r>
          </a:p>
        </p:txBody>
      </p:sp>
      <p:graphicFrame>
        <p:nvGraphicFramePr>
          <p:cNvPr id="6" name="Content Placeholder 5">
            <a:extLst>
              <a:ext uri="{FF2B5EF4-FFF2-40B4-BE49-F238E27FC236}">
                <a16:creationId xmlns:a16="http://schemas.microsoft.com/office/drawing/2014/main" id="{2883723A-2AD0-D316-9A42-9E2A1E5178AB}"/>
              </a:ext>
            </a:extLst>
          </p:cNvPr>
          <p:cNvGraphicFramePr>
            <a:graphicFrameLocks noGrp="1"/>
          </p:cNvGraphicFramePr>
          <p:nvPr>
            <p:ph idx="1"/>
            <p:extLst>
              <p:ext uri="{D42A27DB-BD31-4B8C-83A1-F6EECF244321}">
                <p14:modId xmlns:p14="http://schemas.microsoft.com/office/powerpoint/2010/main" val="2065590493"/>
              </p:ext>
            </p:extLst>
          </p:nvPr>
        </p:nvGraphicFramePr>
        <p:xfrm>
          <a:off x="1141413" y="2667000"/>
          <a:ext cx="9906000" cy="1559560"/>
        </p:xfrm>
        <a:graphic>
          <a:graphicData uri="http://schemas.openxmlformats.org/drawingml/2006/table">
            <a:tbl>
              <a:tblPr firstRow="1" bandRow="1">
                <a:tableStyleId>{5C22544A-7EE6-4342-B048-85BDC9FD1C3A}</a:tableStyleId>
              </a:tblPr>
              <a:tblGrid>
                <a:gridCol w="3302000">
                  <a:extLst>
                    <a:ext uri="{9D8B030D-6E8A-4147-A177-3AD203B41FA5}">
                      <a16:colId xmlns:a16="http://schemas.microsoft.com/office/drawing/2014/main" val="2043676736"/>
                    </a:ext>
                  </a:extLst>
                </a:gridCol>
                <a:gridCol w="3333800">
                  <a:extLst>
                    <a:ext uri="{9D8B030D-6E8A-4147-A177-3AD203B41FA5}">
                      <a16:colId xmlns:a16="http://schemas.microsoft.com/office/drawing/2014/main" val="3957067025"/>
                    </a:ext>
                  </a:extLst>
                </a:gridCol>
                <a:gridCol w="3270200">
                  <a:extLst>
                    <a:ext uri="{9D8B030D-6E8A-4147-A177-3AD203B41FA5}">
                      <a16:colId xmlns:a16="http://schemas.microsoft.com/office/drawing/2014/main" val="1423159121"/>
                    </a:ext>
                  </a:extLst>
                </a:gridCol>
              </a:tblGrid>
              <a:tr h="370840">
                <a:tc>
                  <a:txBody>
                    <a:bodyPr/>
                    <a:lstStyle/>
                    <a:p>
                      <a:pPr algn="ctr"/>
                      <a:r>
                        <a:rPr lang="en-US" dirty="0"/>
                        <a:t>Figure2CNN</a:t>
                      </a:r>
                    </a:p>
                  </a:txBody>
                  <a:tcPr/>
                </a:tc>
                <a:tc>
                  <a:txBody>
                    <a:bodyPr/>
                    <a:lstStyle/>
                    <a:p>
                      <a:pPr algn="ctr"/>
                      <a:r>
                        <a:rPr lang="en-US" dirty="0"/>
                        <a:t>ResNet1D</a:t>
                      </a:r>
                    </a:p>
                  </a:txBody>
                  <a:tcPr/>
                </a:tc>
                <a:tc>
                  <a:txBody>
                    <a:bodyPr/>
                    <a:lstStyle/>
                    <a:p>
                      <a:pPr algn="ctr"/>
                      <a:r>
                        <a:rPr lang="en-US" dirty="0"/>
                        <a:t>ResNet18Vision</a:t>
                      </a:r>
                    </a:p>
                  </a:txBody>
                  <a:tcPr/>
                </a:tc>
                <a:extLst>
                  <a:ext uri="{0D108BD9-81ED-4DB2-BD59-A6C34878D82A}">
                    <a16:rowId xmlns:a16="http://schemas.microsoft.com/office/drawing/2014/main" val="2584367080"/>
                  </a:ext>
                </a:extLst>
              </a:tr>
              <a:tr h="350520">
                <a:tc>
                  <a:txBody>
                    <a:bodyPr/>
                    <a:lstStyle/>
                    <a:p>
                      <a:r>
                        <a:rPr lang="en-US" dirty="0"/>
                        <a:t>Baseline model from literature.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Deeper candidate spectral model with skip connections.</a:t>
                      </a:r>
                    </a:p>
                    <a:p>
                      <a:endParaRPr lang="en-US" dirty="0"/>
                    </a:p>
                  </a:txBody>
                  <a:tcPr/>
                </a:tc>
                <a:tc>
                  <a:txBody>
                    <a:bodyPr/>
                    <a:lstStyle/>
                    <a:p>
                      <a:r>
                        <a:rPr lang="en-US" dirty="0"/>
                        <a:t>Future Image-focused CNN architecture model, retrained on polymer dataset (roadmap).</a:t>
                      </a:r>
                    </a:p>
                  </a:txBody>
                  <a:tcPr/>
                </a:tc>
                <a:extLst>
                  <a:ext uri="{0D108BD9-81ED-4DB2-BD59-A6C34878D82A}">
                    <a16:rowId xmlns:a16="http://schemas.microsoft.com/office/drawing/2014/main" val="3733384667"/>
                  </a:ext>
                </a:extLst>
              </a:tr>
            </a:tbl>
          </a:graphicData>
        </a:graphic>
      </p:graphicFrame>
      <p:sp>
        <p:nvSpPr>
          <p:cNvPr id="7" name="TextBox 6">
            <a:extLst>
              <a:ext uri="{FF2B5EF4-FFF2-40B4-BE49-F238E27FC236}">
                <a16:creationId xmlns:a16="http://schemas.microsoft.com/office/drawing/2014/main" id="{19354964-E362-1C3F-4EF2-06E3BB5A9DA4}"/>
              </a:ext>
            </a:extLst>
          </p:cNvPr>
          <p:cNvSpPr txBox="1"/>
          <p:nvPr/>
        </p:nvSpPr>
        <p:spPr>
          <a:xfrm>
            <a:off x="1141413" y="5262282"/>
            <a:ext cx="10656140" cy="646331"/>
          </a:xfrm>
          <a:prstGeom prst="rect">
            <a:avLst/>
          </a:prstGeom>
          <a:noFill/>
        </p:spPr>
        <p:txBody>
          <a:bodyPr wrap="square" rtlCol="0">
            <a:spAutoFit/>
          </a:bodyPr>
          <a:lstStyle/>
          <a:p>
            <a:pPr marL="285750" indent="-285750">
              <a:buFont typeface="Arial" panose="020B0604020202020204" pitchFamily="34" charset="0"/>
              <a:buChar char="•"/>
            </a:pPr>
            <a:r>
              <a:rPr lang="en-US" dirty="0"/>
              <a:t>Future expansions will add additional trained CNNs, supporting direct benchmarking and comparative reporting.</a:t>
            </a:r>
          </a:p>
        </p:txBody>
      </p:sp>
    </p:spTree>
    <p:extLst>
      <p:ext uri="{BB962C8B-B14F-4D97-AF65-F5344CB8AC3E}">
        <p14:creationId xmlns:p14="http://schemas.microsoft.com/office/powerpoint/2010/main" val="2325208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anim calcmode="lin" valueType="num">
                                      <p:cBhvr>
                                        <p:cTn id="8" dur="2000" fill="hold"/>
                                        <p:tgtEl>
                                          <p:spTgt spid="6"/>
                                        </p:tgtEl>
                                        <p:attrNameLst>
                                          <p:attrName>ppt_w</p:attrName>
                                        </p:attrNameLst>
                                      </p:cBhvr>
                                      <p:tavLst>
                                        <p:tav tm="0" fmla="#ppt_w*sin(2.5*pi*$)">
                                          <p:val>
                                            <p:fltVal val="0"/>
                                          </p:val>
                                        </p:tav>
                                        <p:tav tm="100000">
                                          <p:val>
                                            <p:fltVal val="1"/>
                                          </p:val>
                                        </p:tav>
                                      </p:tavLst>
                                    </p:anim>
                                    <p:anim calcmode="lin" valueType="num">
                                      <p:cBhvr>
                                        <p:cTn id="9"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250"/>
                                  </p:stCondLst>
                                  <p:childTnLst>
                                    <p:set>
                                      <p:cBhvr>
                                        <p:cTn id="13" dur="1" fill="hold">
                                          <p:stCondLst>
                                            <p:cond delay="0"/>
                                          </p:stCondLst>
                                        </p:cTn>
                                        <p:tgtEl>
                                          <p:spTgt spid="7">
                                            <p:txEl>
                                              <p:pRg st="0" end="0"/>
                                            </p:txEl>
                                          </p:spTgt>
                                        </p:tgtEl>
                                        <p:attrNameLst>
                                          <p:attrName>style.visibility</p:attrName>
                                        </p:attrNameLst>
                                      </p:cBhvr>
                                      <p:to>
                                        <p:strVal val="visible"/>
                                      </p:to>
                                    </p:set>
                                    <p:anim calcmode="lin" valueType="num">
                                      <p:cBhvr additive="base">
                                        <p:cTn id="14"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C24E9-67C5-0059-6664-15A6A8D58062}"/>
              </a:ext>
            </a:extLst>
          </p:cNvPr>
          <p:cNvSpPr>
            <a:spLocks noGrp="1"/>
          </p:cNvSpPr>
          <p:nvPr>
            <p:ph type="title"/>
          </p:nvPr>
        </p:nvSpPr>
        <p:spPr>
          <a:xfrm>
            <a:off x="1141413" y="609600"/>
            <a:ext cx="9905998" cy="1242060"/>
          </a:xfrm>
        </p:spPr>
        <p:txBody>
          <a:bodyPr>
            <a:normAutofit/>
          </a:bodyPr>
          <a:lstStyle/>
          <a:p>
            <a:r>
              <a:rPr lang="en-US" b="1" dirty="0"/>
              <a:t>Project Structure (Cleaned and Current)</a:t>
            </a:r>
            <a:br>
              <a:rPr lang="en-US" b="1" dirty="0"/>
            </a:br>
            <a:endParaRPr lang="en-US" dirty="0"/>
          </a:p>
        </p:txBody>
      </p:sp>
      <p:pic>
        <p:nvPicPr>
          <p:cNvPr id="5" name="Content Placeholder 4" descr="The image content is an organized directory structure for a software project related to machine learning, specifically a polymer recycling application, with subfolders for datasets, model architectures, scripts, outputs, documentation, and a local Conda environment.&#10;&#10;AI-generated content may be incorrect.">
            <a:extLst>
              <a:ext uri="{FF2B5EF4-FFF2-40B4-BE49-F238E27FC236}">
                <a16:creationId xmlns:a16="http://schemas.microsoft.com/office/drawing/2014/main" id="{C03E1A9A-8352-74FB-DFF0-2BECD870C74E}"/>
              </a:ext>
            </a:extLst>
          </p:cNvPr>
          <p:cNvPicPr>
            <a:picLocks noGrp="1" noChangeAspect="1"/>
          </p:cNvPicPr>
          <p:nvPr>
            <p:ph idx="1"/>
          </p:nvPr>
        </p:nvPicPr>
        <p:blipFill>
          <a:blip r:embed="rId2"/>
          <a:stretch>
            <a:fillRect/>
          </a:stretch>
        </p:blipFill>
        <p:spPr>
          <a:xfrm>
            <a:off x="2877956" y="2287176"/>
            <a:ext cx="5325213" cy="1613087"/>
          </a:xfrm>
          <a:prstGeom prst="rect">
            <a:avLst/>
          </a:prstGeom>
        </p:spPr>
      </p:pic>
      <p:pic>
        <p:nvPicPr>
          <p:cNvPr id="7" name="Picture 6" descr="The diagram illustrates a structured software project layout, including various files and scripts categorized under different directories like Data Layer, Compute &amp; Training Pipeline, and Configuration &amp; Docs, with a focus on machine learning components such as data preprocessing, model training, and inference services.&#10;&#10;AI-generated content may be incorrect.">
            <a:extLst>
              <a:ext uri="{FF2B5EF4-FFF2-40B4-BE49-F238E27FC236}">
                <a16:creationId xmlns:a16="http://schemas.microsoft.com/office/drawing/2014/main" id="{F11CF8D6-DCEB-C508-63CE-B25D7AA55C3F}"/>
              </a:ext>
            </a:extLst>
          </p:cNvPr>
          <p:cNvPicPr>
            <a:picLocks noChangeAspect="1"/>
          </p:cNvPicPr>
          <p:nvPr/>
        </p:nvPicPr>
        <p:blipFill>
          <a:blip r:embed="rId3"/>
          <a:stretch>
            <a:fillRect/>
          </a:stretch>
        </p:blipFill>
        <p:spPr>
          <a:xfrm>
            <a:off x="3461030" y="4156655"/>
            <a:ext cx="4358754" cy="2091745"/>
          </a:xfrm>
          <a:prstGeom prst="rect">
            <a:avLst/>
          </a:prstGeom>
        </p:spPr>
      </p:pic>
      <p:sp>
        <p:nvSpPr>
          <p:cNvPr id="3" name="TextBox 2">
            <a:extLst>
              <a:ext uri="{FF2B5EF4-FFF2-40B4-BE49-F238E27FC236}">
                <a16:creationId xmlns:a16="http://schemas.microsoft.com/office/drawing/2014/main" id="{2967B68D-4D41-86E4-752A-81F210BB10ED}"/>
              </a:ext>
            </a:extLst>
          </p:cNvPr>
          <p:cNvSpPr txBox="1"/>
          <p:nvPr/>
        </p:nvSpPr>
        <p:spPr>
          <a:xfrm>
            <a:off x="109801" y="1738720"/>
            <a:ext cx="10937610" cy="369332"/>
          </a:xfrm>
          <a:prstGeom prst="rect">
            <a:avLst/>
          </a:prstGeom>
          <a:noFill/>
        </p:spPr>
        <p:txBody>
          <a:bodyPr wrap="none" rtlCol="0">
            <a:spAutoFit/>
          </a:bodyPr>
          <a:lstStyle/>
          <a:p>
            <a:r>
              <a:rPr lang="en-US" dirty="0"/>
              <a:t>Dataset</a:t>
            </a:r>
            <a:r>
              <a:rPr lang="en-US" dirty="0">
                <a:sym typeface="Wingdings" panose="05000000000000000000" pitchFamily="2" charset="2"/>
              </a:rPr>
              <a:t> Preprocessing Training Validation Prediction (Output Data To Form a Conclusion)</a:t>
            </a:r>
            <a:endParaRPr lang="en-US" dirty="0"/>
          </a:p>
        </p:txBody>
      </p:sp>
    </p:spTree>
    <p:extLst>
      <p:ext uri="{BB962C8B-B14F-4D97-AF65-F5344CB8AC3E}">
        <p14:creationId xmlns:p14="http://schemas.microsoft.com/office/powerpoint/2010/main" val="2789138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3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3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3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9AEA1-54B3-8FD3-7FA1-A1DFBE15E10D}"/>
              </a:ext>
            </a:extLst>
          </p:cNvPr>
          <p:cNvSpPr>
            <a:spLocks noGrp="1"/>
          </p:cNvSpPr>
          <p:nvPr>
            <p:ph type="title"/>
          </p:nvPr>
        </p:nvSpPr>
        <p:spPr>
          <a:xfrm>
            <a:off x="1141413" y="609600"/>
            <a:ext cx="9905998" cy="1028700"/>
          </a:xfrm>
        </p:spPr>
        <p:txBody>
          <a:bodyPr>
            <a:normAutofit/>
          </a:bodyPr>
          <a:lstStyle/>
          <a:p>
            <a:pPr algn="ctr"/>
            <a:r>
              <a:rPr lang="en-US" b="1" dirty="0"/>
              <a:t>Current Status</a:t>
            </a:r>
          </a:p>
        </p:txBody>
      </p:sp>
      <p:sp>
        <p:nvSpPr>
          <p:cNvPr id="6" name="Content Placeholder 2">
            <a:extLst>
              <a:ext uri="{FF2B5EF4-FFF2-40B4-BE49-F238E27FC236}">
                <a16:creationId xmlns:a16="http://schemas.microsoft.com/office/drawing/2014/main" id="{E251949E-BA4C-FD47-4A70-68D353D17462}"/>
              </a:ext>
            </a:extLst>
          </p:cNvPr>
          <p:cNvSpPr txBox="1">
            <a:spLocks/>
          </p:cNvSpPr>
          <p:nvPr/>
        </p:nvSpPr>
        <p:spPr>
          <a:xfrm>
            <a:off x="1141413" y="1722120"/>
            <a:ext cx="9296815" cy="4922520"/>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endParaRPr lang="en-US" dirty="0"/>
          </a:p>
        </p:txBody>
      </p:sp>
      <p:pic>
        <p:nvPicPr>
          <p:cNvPr id="10" name="Something to Believe In">
            <a:hlinkClick r:id="" action="ppaction://media"/>
            <a:extLst>
              <a:ext uri="{FF2B5EF4-FFF2-40B4-BE49-F238E27FC236}">
                <a16:creationId xmlns:a16="http://schemas.microsoft.com/office/drawing/2014/main" id="{6D1760A2-62B9-84FD-FC20-B2AA3FA319C7}"/>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943600" y="3276600"/>
            <a:ext cx="304800" cy="304800"/>
          </a:xfrm>
          <a:prstGeom prst="rect">
            <a:avLst/>
          </a:prstGeom>
        </p:spPr>
      </p:pic>
      <p:pic>
        <p:nvPicPr>
          <p:cNvPr id="4" name="Picture 3" descr="The image displays a data table with statistics showing an 87.81% test accuracy for Raman spectrosc0001 and a note on N/A for FTIR, with a mention of imminent reactivation of modules.&#10;&#10;AI-generated content may be incorrect.">
            <a:extLst>
              <a:ext uri="{FF2B5EF4-FFF2-40B4-BE49-F238E27FC236}">
                <a16:creationId xmlns:a16="http://schemas.microsoft.com/office/drawing/2014/main" id="{FCB1BDC4-7066-B2D8-7EFF-6CD73C93717C}"/>
              </a:ext>
            </a:extLst>
          </p:cNvPr>
          <p:cNvPicPr>
            <a:picLocks noChangeAspect="1"/>
          </p:cNvPicPr>
          <p:nvPr/>
        </p:nvPicPr>
        <p:blipFill>
          <a:blip r:embed="rId5">
            <a:duotone>
              <a:prstClr val="black"/>
              <a:schemeClr val="accent3">
                <a:tint val="45000"/>
                <a:satMod val="400000"/>
              </a:schemeClr>
            </a:duotone>
          </a:blip>
          <a:srcRect t="25741" b="43998"/>
          <a:stretch>
            <a:fillRect/>
          </a:stretch>
        </p:blipFill>
        <p:spPr>
          <a:xfrm>
            <a:off x="3274481" y="1638300"/>
            <a:ext cx="5947838" cy="603830"/>
          </a:xfrm>
          <a:prstGeom prst="rect">
            <a:avLst/>
          </a:prstGeom>
        </p:spPr>
      </p:pic>
      <p:sp>
        <p:nvSpPr>
          <p:cNvPr id="5" name="TextBox 4">
            <a:extLst>
              <a:ext uri="{FF2B5EF4-FFF2-40B4-BE49-F238E27FC236}">
                <a16:creationId xmlns:a16="http://schemas.microsoft.com/office/drawing/2014/main" id="{88AB19BF-B047-FEB5-02DE-C6512A1CB122}"/>
              </a:ext>
            </a:extLst>
          </p:cNvPr>
          <p:cNvSpPr txBox="1"/>
          <p:nvPr/>
        </p:nvSpPr>
        <p:spPr>
          <a:xfrm rot="10800000" flipV="1">
            <a:off x="1753771" y="3443005"/>
            <a:ext cx="9598855" cy="2585323"/>
          </a:xfrm>
          <a:prstGeom prst="rect">
            <a:avLst/>
          </a:prstGeom>
          <a:noFill/>
        </p:spPr>
        <p:txBody>
          <a:bodyPr wrap="square" rtlCol="0">
            <a:spAutoFit/>
          </a:bodyPr>
          <a:lstStyle/>
          <a:p>
            <a:r>
              <a:rPr lang="en-US" b="1" dirty="0"/>
              <a:t>Key Features</a:t>
            </a:r>
          </a:p>
          <a:p>
            <a:pPr marL="285750" indent="-285750">
              <a:buFont typeface="Arial" panose="020B0604020202020204" pitchFamily="34" charset="0"/>
              <a:buChar char="•"/>
            </a:pPr>
            <a:r>
              <a:rPr lang="en-US" dirty="0"/>
              <a:t>10-Fold Stratified Cross-Validation</a:t>
            </a:r>
          </a:p>
          <a:p>
            <a:pPr marL="285750" indent="-285750">
              <a:buFont typeface="Arial" panose="020B0604020202020204" pitchFamily="34" charset="0"/>
              <a:buChar char="•"/>
            </a:pPr>
            <a:r>
              <a:rPr lang="en-US" dirty="0"/>
              <a:t>CLI Training: train_model.py</a:t>
            </a:r>
          </a:p>
          <a:p>
            <a:pPr marL="285750" indent="-285750">
              <a:buFont typeface="Arial" panose="020B0604020202020204" pitchFamily="34" charset="0"/>
              <a:buChar char="•"/>
            </a:pPr>
            <a:r>
              <a:rPr lang="en-US" dirty="0"/>
              <a:t>CLI Inference run_inference.py</a:t>
            </a:r>
          </a:p>
          <a:p>
            <a:pPr marL="285750" indent="-285750">
              <a:buFont typeface="Arial" panose="020B0604020202020204" pitchFamily="34" charset="0"/>
              <a:buChar char="•"/>
            </a:pPr>
            <a:r>
              <a:rPr lang="en-US" dirty="0"/>
              <a:t>Output artifact naming per model</a:t>
            </a:r>
          </a:p>
          <a:p>
            <a:pPr marL="285750" indent="-285750">
              <a:buFont typeface="Arial" panose="020B0604020202020204" pitchFamily="34" charset="0"/>
              <a:buChar char="•"/>
            </a:pPr>
            <a:r>
              <a:rPr lang="en-US" dirty="0"/>
              <a:t>Raman-only preprocessing with baseline correction, smoothing, normalization</a:t>
            </a:r>
          </a:p>
          <a:p>
            <a:pPr marL="285750" indent="-285750">
              <a:buFont typeface="Arial" panose="020B0604020202020204" pitchFamily="34" charset="0"/>
              <a:buChar char="•"/>
            </a:pPr>
            <a:r>
              <a:rPr lang="en-US" dirty="0"/>
              <a:t>Structured diagnostics JSON (accuracies, confusion matrices)</a:t>
            </a:r>
          </a:p>
          <a:p>
            <a:pPr marL="285750" indent="-285750">
              <a:buFont typeface="Arial" panose="020B0604020202020204" pitchFamily="34" charset="0"/>
              <a:buChar char="•"/>
            </a:pPr>
            <a:r>
              <a:rPr lang="en-US" dirty="0"/>
              <a:t>Canonical validation script (validate_pipeline.sh) confirms reproducibility of all core components</a:t>
            </a:r>
          </a:p>
        </p:txBody>
      </p:sp>
      <p:pic>
        <p:nvPicPr>
          <p:cNvPr id="3" name="Picture 2" descr="The image displays a data table with statistics showing an 87.81% test accuracy for Raman spectrosc0001 and a note on N/A for FTIR, with a mention of imminent reactivation of modules.&#10;&#10;AI-generated content may be incorrect.">
            <a:extLst>
              <a:ext uri="{FF2B5EF4-FFF2-40B4-BE49-F238E27FC236}">
                <a16:creationId xmlns:a16="http://schemas.microsoft.com/office/drawing/2014/main" id="{218E136A-D3B4-A14B-6B92-571AE82ED3CE}"/>
              </a:ext>
            </a:extLst>
          </p:cNvPr>
          <p:cNvPicPr>
            <a:picLocks noChangeAspect="1"/>
          </p:cNvPicPr>
          <p:nvPr/>
        </p:nvPicPr>
        <p:blipFill>
          <a:blip r:embed="rId5"/>
          <a:srcRect t="47568" b="-1"/>
          <a:stretch>
            <a:fillRect/>
          </a:stretch>
        </p:blipFill>
        <p:spPr>
          <a:xfrm>
            <a:off x="3274481" y="2224580"/>
            <a:ext cx="5947838" cy="1046250"/>
          </a:xfrm>
          <a:prstGeom prst="rect">
            <a:avLst/>
          </a:prstGeom>
        </p:spPr>
      </p:pic>
    </p:spTree>
    <p:extLst>
      <p:ext uri="{BB962C8B-B14F-4D97-AF65-F5344CB8AC3E}">
        <p14:creationId xmlns:p14="http://schemas.microsoft.com/office/powerpoint/2010/main" val="3641658203"/>
      </p:ext>
    </p:extLst>
  </p:cSld>
  <p:clrMapOvr>
    <a:masterClrMapping/>
  </p:clrMapOvr>
  <mc:AlternateContent xmlns:mc="http://schemas.openxmlformats.org/markup-compatibility/2006" xmlns:p14="http://schemas.microsoft.com/office/powerpoint/2010/main">
    <mc:Choice Requires="p14">
      <p:transition spd="slow" p14:dur="2000" advTm="112172"/>
    </mc:Choice>
    <mc:Fallback xmlns="">
      <p:transition spd="slow" advTm="1121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2172" fill="hold"/>
                                        <p:tgtEl>
                                          <p:spTgt spid="10"/>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3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3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3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3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fade">
                                      <p:cBhvr>
                                        <p:cTn id="27" dur="500"/>
                                        <p:tgtEl>
                                          <p:spTgt spid="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3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fade">
                                      <p:cBhvr>
                                        <p:cTn id="32" dur="500"/>
                                        <p:tgtEl>
                                          <p:spTgt spid="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30"/>
                                  </p:stCondLst>
                                  <p:childTnLst>
                                    <p:set>
                                      <p:cBhvr>
                                        <p:cTn id="36" dur="1" fill="hold">
                                          <p:stCondLst>
                                            <p:cond delay="0"/>
                                          </p:stCondLst>
                                        </p:cTn>
                                        <p:tgtEl>
                                          <p:spTgt spid="5">
                                            <p:txEl>
                                              <p:pRg st="3" end="3"/>
                                            </p:txEl>
                                          </p:spTgt>
                                        </p:tgtEl>
                                        <p:attrNameLst>
                                          <p:attrName>style.visibility</p:attrName>
                                        </p:attrNameLst>
                                      </p:cBhvr>
                                      <p:to>
                                        <p:strVal val="visible"/>
                                      </p:to>
                                    </p:set>
                                    <p:animEffect transition="in" filter="fade">
                                      <p:cBhvr>
                                        <p:cTn id="37" dur="500"/>
                                        <p:tgtEl>
                                          <p:spTgt spid="5">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30"/>
                                  </p:stCondLst>
                                  <p:childTnLst>
                                    <p:set>
                                      <p:cBhvr>
                                        <p:cTn id="41" dur="1" fill="hold">
                                          <p:stCondLst>
                                            <p:cond delay="0"/>
                                          </p:stCondLst>
                                        </p:cTn>
                                        <p:tgtEl>
                                          <p:spTgt spid="5">
                                            <p:txEl>
                                              <p:pRg st="4" end="4"/>
                                            </p:txEl>
                                          </p:spTgt>
                                        </p:tgtEl>
                                        <p:attrNameLst>
                                          <p:attrName>style.visibility</p:attrName>
                                        </p:attrNameLst>
                                      </p:cBhvr>
                                      <p:to>
                                        <p:strVal val="visible"/>
                                      </p:to>
                                    </p:set>
                                    <p:animEffect transition="in" filter="fade">
                                      <p:cBhvr>
                                        <p:cTn id="42" dur="500"/>
                                        <p:tgtEl>
                                          <p:spTgt spid="5">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30"/>
                                  </p:stCondLst>
                                  <p:childTnLst>
                                    <p:set>
                                      <p:cBhvr>
                                        <p:cTn id="46" dur="1" fill="hold">
                                          <p:stCondLst>
                                            <p:cond delay="0"/>
                                          </p:stCondLst>
                                        </p:cTn>
                                        <p:tgtEl>
                                          <p:spTgt spid="5">
                                            <p:txEl>
                                              <p:pRg st="5" end="5"/>
                                            </p:txEl>
                                          </p:spTgt>
                                        </p:tgtEl>
                                        <p:attrNameLst>
                                          <p:attrName>style.visibility</p:attrName>
                                        </p:attrNameLst>
                                      </p:cBhvr>
                                      <p:to>
                                        <p:strVal val="visible"/>
                                      </p:to>
                                    </p:set>
                                    <p:animEffect transition="in" filter="fade">
                                      <p:cBhvr>
                                        <p:cTn id="47" dur="500"/>
                                        <p:tgtEl>
                                          <p:spTgt spid="5">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30"/>
                                  </p:stCondLst>
                                  <p:childTnLst>
                                    <p:set>
                                      <p:cBhvr>
                                        <p:cTn id="51" dur="1" fill="hold">
                                          <p:stCondLst>
                                            <p:cond delay="0"/>
                                          </p:stCondLst>
                                        </p:cTn>
                                        <p:tgtEl>
                                          <p:spTgt spid="5">
                                            <p:txEl>
                                              <p:pRg st="6" end="6"/>
                                            </p:txEl>
                                          </p:spTgt>
                                        </p:tgtEl>
                                        <p:attrNameLst>
                                          <p:attrName>style.visibility</p:attrName>
                                        </p:attrNameLst>
                                      </p:cBhvr>
                                      <p:to>
                                        <p:strVal val="visible"/>
                                      </p:to>
                                    </p:set>
                                    <p:animEffect transition="in" filter="fade">
                                      <p:cBhvr>
                                        <p:cTn id="52" dur="500"/>
                                        <p:tgtEl>
                                          <p:spTgt spid="5">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30"/>
                                  </p:stCondLst>
                                  <p:childTnLst>
                                    <p:set>
                                      <p:cBhvr>
                                        <p:cTn id="56" dur="1" fill="hold">
                                          <p:stCondLst>
                                            <p:cond delay="0"/>
                                          </p:stCondLst>
                                        </p:cTn>
                                        <p:tgtEl>
                                          <p:spTgt spid="5">
                                            <p:txEl>
                                              <p:pRg st="7" end="7"/>
                                            </p:txEl>
                                          </p:spTgt>
                                        </p:tgtEl>
                                        <p:attrNameLst>
                                          <p:attrName>style.visibility</p:attrName>
                                        </p:attrNameLst>
                                      </p:cBhvr>
                                      <p:to>
                                        <p:strVal val="visible"/>
                                      </p:to>
                                    </p:set>
                                    <p:animEffect transition="in" filter="fade">
                                      <p:cBhvr>
                                        <p:cTn id="57"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58" fill="hold" display="0">
                  <p:stCondLst>
                    <p:cond delay="indefinite"/>
                  </p:stCondLst>
                  <p:endCondLst>
                    <p:cond evt="onStopAudio" delay="0">
                      <p:tgtEl>
                        <p:sldTgt/>
                      </p:tgtEl>
                    </p:cond>
                  </p:endCondLst>
                </p:cTn>
                <p:tgtEl>
                  <p:spTgt spid="10"/>
                </p:tgtEl>
              </p:cMediaNode>
            </p:audio>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3FA7A-1F25-4AE8-7E63-9F498071B4EE}"/>
              </a:ext>
            </a:extLst>
          </p:cNvPr>
          <p:cNvSpPr>
            <a:spLocks noGrp="1"/>
          </p:cNvSpPr>
          <p:nvPr>
            <p:ph type="title"/>
          </p:nvPr>
        </p:nvSpPr>
        <p:spPr>
          <a:xfrm>
            <a:off x="1141413" y="609600"/>
            <a:ext cx="9905998" cy="1479082"/>
          </a:xfrm>
        </p:spPr>
        <p:txBody>
          <a:bodyPr/>
          <a:lstStyle/>
          <a:p>
            <a:pPr algn="ctr"/>
            <a:r>
              <a:rPr lang="en-US" dirty="0"/>
              <a:t>10-Fold Stratified Cross-Validation:</a:t>
            </a:r>
            <a:br>
              <a:rPr lang="en-US" dirty="0"/>
            </a:br>
            <a:r>
              <a:rPr lang="en-US" dirty="0"/>
              <a:t>a Feature Ridge-coefficient Trace graph</a:t>
            </a:r>
            <a:br>
              <a:rPr lang="en-US" dirty="0"/>
            </a:br>
            <a:r>
              <a:rPr lang="en-US" sz="2000" i="1" dirty="0"/>
              <a:t>&lt;</a:t>
            </a:r>
            <a:r>
              <a:rPr lang="en-US" sz="2000" i="1" dirty="0" err="1"/>
              <a:t>sciKit</a:t>
            </a:r>
            <a:r>
              <a:rPr lang="en-US" sz="2000" i="1" dirty="0"/>
              <a:t> linear regression statistics library&gt;</a:t>
            </a:r>
          </a:p>
        </p:txBody>
      </p:sp>
      <p:pic>
        <p:nvPicPr>
          <p:cNvPr id="5" name="Content Placeholder 4" descr="The diagram illustrates how the coefficients of ten different features in a model change with varying levels of regularization strength, alpha.&#10;&#10;AI-generated content may be incorrect.">
            <a:extLst>
              <a:ext uri="{FF2B5EF4-FFF2-40B4-BE49-F238E27FC236}">
                <a16:creationId xmlns:a16="http://schemas.microsoft.com/office/drawing/2014/main" id="{6BC57A0E-8BC5-FC67-7095-DE85099C00CC}"/>
              </a:ext>
            </a:extLst>
          </p:cNvPr>
          <p:cNvPicPr>
            <a:picLocks noGrp="1" noChangeAspect="1"/>
          </p:cNvPicPr>
          <p:nvPr>
            <p:ph idx="1"/>
          </p:nvPr>
        </p:nvPicPr>
        <p:blipFill>
          <a:blip r:embed="rId2"/>
          <a:stretch>
            <a:fillRect/>
          </a:stretch>
        </p:blipFill>
        <p:spPr>
          <a:xfrm>
            <a:off x="3354863" y="2088685"/>
            <a:ext cx="4884420" cy="2785110"/>
          </a:xfrm>
          <a:prstGeom prst="rect">
            <a:avLst/>
          </a:prstGeom>
        </p:spPr>
      </p:pic>
      <p:sp>
        <p:nvSpPr>
          <p:cNvPr id="3" name="TextBox 2">
            <a:extLst>
              <a:ext uri="{FF2B5EF4-FFF2-40B4-BE49-F238E27FC236}">
                <a16:creationId xmlns:a16="http://schemas.microsoft.com/office/drawing/2014/main" id="{C23A0F26-9A71-FBA2-3B8A-60C68ECF2F8F}"/>
              </a:ext>
            </a:extLst>
          </p:cNvPr>
          <p:cNvSpPr txBox="1"/>
          <p:nvPr/>
        </p:nvSpPr>
        <p:spPr>
          <a:xfrm>
            <a:off x="82635" y="5019573"/>
            <a:ext cx="10120144" cy="1200329"/>
          </a:xfrm>
          <a:prstGeom prst="rect">
            <a:avLst/>
          </a:prstGeom>
          <a:noFill/>
        </p:spPr>
        <p:txBody>
          <a:bodyPr wrap="square" rtlCol="0">
            <a:spAutoFit/>
          </a:bodyPr>
          <a:lstStyle/>
          <a:p>
            <a:pPr marL="285750" indent="-285750">
              <a:buFont typeface="Arial" panose="020B0604020202020204" pitchFamily="34" charset="0"/>
              <a:buChar char="•"/>
            </a:pPr>
            <a:r>
              <a:rPr lang="en-US" dirty="0"/>
              <a:t>A ridge trace from linear regression analysis reveals that, for small alpha trend analysis, other curve fitting is possible.</a:t>
            </a:r>
          </a:p>
          <a:p>
            <a:pPr marL="285750" indent="-285750">
              <a:buFont typeface="Arial" panose="020B0604020202020204" pitchFamily="34" charset="0"/>
              <a:buChar char="•"/>
            </a:pPr>
            <a:r>
              <a:rPr lang="en-US" dirty="0"/>
              <a:t>A ridge trace from linear regression analysis reveals that, for large alpha trend analysis, linear chi-squared fitting is most likely. </a:t>
            </a:r>
          </a:p>
        </p:txBody>
      </p:sp>
    </p:spTree>
    <p:extLst>
      <p:ext uri="{BB962C8B-B14F-4D97-AF65-F5344CB8AC3E}">
        <p14:creationId xmlns:p14="http://schemas.microsoft.com/office/powerpoint/2010/main" val="3846254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F1B63-8EFE-CD4F-87E9-32D68674C0E5}"/>
              </a:ext>
            </a:extLst>
          </p:cNvPr>
          <p:cNvSpPr>
            <a:spLocks noGrp="1"/>
          </p:cNvSpPr>
          <p:nvPr>
            <p:ph type="title"/>
          </p:nvPr>
        </p:nvSpPr>
        <p:spPr/>
        <p:txBody>
          <a:bodyPr/>
          <a:lstStyle/>
          <a:p>
            <a:r>
              <a:rPr lang="en-US" dirty="0" err="1"/>
              <a:t>XgBoost</a:t>
            </a:r>
            <a:r>
              <a:rPr lang="en-US" dirty="0"/>
              <a:t> and </a:t>
            </a:r>
            <a:r>
              <a:rPr lang="en-US" dirty="0" err="1"/>
              <a:t>CatBoost</a:t>
            </a:r>
            <a:r>
              <a:rPr lang="en-US" dirty="0"/>
              <a:t> Linear Regression Comparison</a:t>
            </a:r>
          </a:p>
        </p:txBody>
      </p:sp>
      <p:pic>
        <p:nvPicPr>
          <p:cNvPr id="5" name="Content Placeholder 4" descr="The diagram shows a comparison of prediction accuracy (R2 and MAE) for XGBoost, with values increasing over a range of predicted percentages.&#10;&#10;AI-generated content may be incorrect.">
            <a:extLst>
              <a:ext uri="{FF2B5EF4-FFF2-40B4-BE49-F238E27FC236}">
                <a16:creationId xmlns:a16="http://schemas.microsoft.com/office/drawing/2014/main" id="{952C76AE-4A6B-222A-062C-726CD256E672}"/>
              </a:ext>
            </a:extLst>
          </p:cNvPr>
          <p:cNvPicPr>
            <a:picLocks noGrp="1" noChangeAspect="1"/>
          </p:cNvPicPr>
          <p:nvPr>
            <p:ph idx="1"/>
          </p:nvPr>
        </p:nvPicPr>
        <p:blipFill>
          <a:blip r:embed="rId2"/>
          <a:stretch>
            <a:fillRect/>
          </a:stretch>
        </p:blipFill>
        <p:spPr>
          <a:xfrm>
            <a:off x="2968072" y="2166092"/>
            <a:ext cx="1322377" cy="4354618"/>
          </a:xfrm>
          <a:prstGeom prst="rect">
            <a:avLst/>
          </a:prstGeom>
        </p:spPr>
      </p:pic>
      <p:pic>
        <p:nvPicPr>
          <p:cNvPr id="7" name="Picture 6" descr="The image displays a scatter plot comparing the actual percentage values with their predicted values, showing high R-squared (Rￂﾲ) and mean absolute error (MAE) for a CatBoost model.&#10;&#10;AI-generated content may be incorrect.">
            <a:extLst>
              <a:ext uri="{FF2B5EF4-FFF2-40B4-BE49-F238E27FC236}">
                <a16:creationId xmlns:a16="http://schemas.microsoft.com/office/drawing/2014/main" id="{0A8028BA-15B9-2380-1B74-5EB05A07D548}"/>
              </a:ext>
            </a:extLst>
          </p:cNvPr>
          <p:cNvPicPr>
            <a:picLocks noChangeAspect="1"/>
          </p:cNvPicPr>
          <p:nvPr/>
        </p:nvPicPr>
        <p:blipFill>
          <a:blip r:embed="rId3"/>
          <a:stretch>
            <a:fillRect/>
          </a:stretch>
        </p:blipFill>
        <p:spPr>
          <a:xfrm>
            <a:off x="6036370" y="2166092"/>
            <a:ext cx="1305231" cy="4348794"/>
          </a:xfrm>
          <a:prstGeom prst="rect">
            <a:avLst/>
          </a:prstGeom>
        </p:spPr>
      </p:pic>
    </p:spTree>
    <p:extLst>
      <p:ext uri="{BB962C8B-B14F-4D97-AF65-F5344CB8AC3E}">
        <p14:creationId xmlns:p14="http://schemas.microsoft.com/office/powerpoint/2010/main" val="3545744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E8CBC-D9F7-EB84-7EA4-E435D4EFA50D}"/>
              </a:ext>
            </a:extLst>
          </p:cNvPr>
          <p:cNvSpPr>
            <a:spLocks noGrp="1"/>
          </p:cNvSpPr>
          <p:nvPr>
            <p:ph type="title"/>
          </p:nvPr>
        </p:nvSpPr>
        <p:spPr/>
        <p:txBody>
          <a:bodyPr/>
          <a:lstStyle/>
          <a:p>
            <a:r>
              <a:rPr lang="en-US" dirty="0"/>
              <a:t>What </a:t>
            </a:r>
            <a:r>
              <a:rPr lang="en-US" dirty="0" err="1"/>
              <a:t>XGBoost</a:t>
            </a:r>
            <a:r>
              <a:rPr lang="en-US" dirty="0"/>
              <a:t> Does:</a:t>
            </a:r>
          </a:p>
        </p:txBody>
      </p:sp>
      <p:sp>
        <p:nvSpPr>
          <p:cNvPr id="3" name="Content Placeholder 2">
            <a:extLst>
              <a:ext uri="{FF2B5EF4-FFF2-40B4-BE49-F238E27FC236}">
                <a16:creationId xmlns:a16="http://schemas.microsoft.com/office/drawing/2014/main" id="{E330D033-F02B-A56B-4FBD-B692DF6B69BF}"/>
              </a:ext>
            </a:extLst>
          </p:cNvPr>
          <p:cNvSpPr>
            <a:spLocks noGrp="1"/>
          </p:cNvSpPr>
          <p:nvPr>
            <p:ph idx="1"/>
          </p:nvPr>
        </p:nvSpPr>
        <p:spPr/>
        <p:txBody>
          <a:bodyPr/>
          <a:lstStyle/>
          <a:p>
            <a:r>
              <a:rPr lang="en-US" dirty="0"/>
              <a:t>Handles Tabular Data Best</a:t>
            </a:r>
          </a:p>
          <a:p>
            <a:r>
              <a:rPr lang="en-US" dirty="0"/>
              <a:t>Manages missing values</a:t>
            </a:r>
          </a:p>
          <a:p>
            <a:r>
              <a:rPr lang="en-US" dirty="0"/>
              <a:t>Prevents curve overfitting</a:t>
            </a:r>
          </a:p>
          <a:p>
            <a:r>
              <a:rPr lang="en-US" dirty="0"/>
              <a:t>Captures Non-Linear Relationships</a:t>
            </a:r>
          </a:p>
          <a:p>
            <a:r>
              <a:rPr lang="en-US" dirty="0"/>
              <a:t>Features Parallel computing</a:t>
            </a:r>
          </a:p>
        </p:txBody>
      </p:sp>
    </p:spTree>
    <p:extLst>
      <p:ext uri="{BB962C8B-B14F-4D97-AF65-F5344CB8AC3E}">
        <p14:creationId xmlns:p14="http://schemas.microsoft.com/office/powerpoint/2010/main" val="3160436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631E1-E937-4BB3-732D-5E1621E15828}"/>
              </a:ext>
            </a:extLst>
          </p:cNvPr>
          <p:cNvSpPr>
            <a:spLocks noGrp="1"/>
          </p:cNvSpPr>
          <p:nvPr>
            <p:ph type="title"/>
          </p:nvPr>
        </p:nvSpPr>
        <p:spPr/>
        <p:txBody>
          <a:bodyPr/>
          <a:lstStyle/>
          <a:p>
            <a:r>
              <a:rPr lang="en-US" dirty="0"/>
              <a:t>What </a:t>
            </a:r>
            <a:r>
              <a:rPr lang="en-US" dirty="0" err="1"/>
              <a:t>catboost</a:t>
            </a:r>
            <a:r>
              <a:rPr lang="en-US" dirty="0"/>
              <a:t> does:</a:t>
            </a:r>
          </a:p>
        </p:txBody>
      </p:sp>
      <p:sp>
        <p:nvSpPr>
          <p:cNvPr id="3" name="Content Placeholder 2">
            <a:extLst>
              <a:ext uri="{FF2B5EF4-FFF2-40B4-BE49-F238E27FC236}">
                <a16:creationId xmlns:a16="http://schemas.microsoft.com/office/drawing/2014/main" id="{EA0761D3-A606-6EF8-E541-0D591417E727}"/>
              </a:ext>
            </a:extLst>
          </p:cNvPr>
          <p:cNvSpPr>
            <a:spLocks noGrp="1"/>
          </p:cNvSpPr>
          <p:nvPr>
            <p:ph idx="1"/>
          </p:nvPr>
        </p:nvSpPr>
        <p:spPr/>
        <p:txBody>
          <a:bodyPr/>
          <a:lstStyle/>
          <a:p>
            <a:r>
              <a:rPr lang="en-US" dirty="0"/>
              <a:t>Native Categorical encoding</a:t>
            </a:r>
          </a:p>
          <a:p>
            <a:r>
              <a:rPr lang="en-US" dirty="0"/>
              <a:t>Prevents Target Leakage</a:t>
            </a:r>
          </a:p>
          <a:p>
            <a:r>
              <a:rPr lang="en-US" dirty="0"/>
              <a:t>Exceptional default settings</a:t>
            </a:r>
          </a:p>
          <a:p>
            <a:r>
              <a:rPr lang="en-US" dirty="0"/>
              <a:t>Ultra-fast real-time inference</a:t>
            </a:r>
          </a:p>
          <a:p>
            <a:r>
              <a:rPr lang="en-US" dirty="0"/>
              <a:t>Highly Efficient GPU Training</a:t>
            </a:r>
          </a:p>
        </p:txBody>
      </p:sp>
    </p:spTree>
    <p:extLst>
      <p:ext uri="{BB962C8B-B14F-4D97-AF65-F5344CB8AC3E}">
        <p14:creationId xmlns:p14="http://schemas.microsoft.com/office/powerpoint/2010/main" val="1763730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470C-BDE7-0220-31D2-BD41E9D7F3BA}"/>
              </a:ext>
            </a:extLst>
          </p:cNvPr>
          <p:cNvSpPr>
            <a:spLocks noGrp="1"/>
          </p:cNvSpPr>
          <p:nvPr>
            <p:ph type="title"/>
          </p:nvPr>
        </p:nvSpPr>
        <p:spPr>
          <a:xfrm>
            <a:off x="1141413" y="609601"/>
            <a:ext cx="9905998" cy="1062446"/>
          </a:xfrm>
        </p:spPr>
        <p:txBody>
          <a:bodyPr/>
          <a:lstStyle/>
          <a:p>
            <a:r>
              <a:rPr lang="en-US" dirty="0"/>
              <a:t>Dataset: Conversion Distributions</a:t>
            </a:r>
          </a:p>
        </p:txBody>
      </p:sp>
      <p:pic>
        <p:nvPicPr>
          <p:cNvPr id="14" name="Content Placeholder 13">
            <a:extLst>
              <a:ext uri="{FF2B5EF4-FFF2-40B4-BE49-F238E27FC236}">
                <a16:creationId xmlns:a16="http://schemas.microsoft.com/office/drawing/2014/main" id="{01873716-1257-8157-2137-2BC6A7AFFC3F}"/>
              </a:ext>
            </a:extLst>
          </p:cNvPr>
          <p:cNvPicPr>
            <a:picLocks noGrp="1" noChangeAspect="1"/>
          </p:cNvPicPr>
          <p:nvPr>
            <p:ph idx="1"/>
          </p:nvPr>
        </p:nvPicPr>
        <p:blipFill>
          <a:blip r:embed="rId2"/>
          <a:stretch>
            <a:fillRect/>
          </a:stretch>
        </p:blipFill>
        <p:spPr>
          <a:xfrm>
            <a:off x="1421464" y="1454330"/>
            <a:ext cx="8256958" cy="2939858"/>
          </a:xfrm>
          <a:prstGeom prst="rect">
            <a:avLst/>
          </a:prstGeom>
        </p:spPr>
      </p:pic>
      <p:sp>
        <p:nvSpPr>
          <p:cNvPr id="3" name="TextBox 2">
            <a:extLst>
              <a:ext uri="{FF2B5EF4-FFF2-40B4-BE49-F238E27FC236}">
                <a16:creationId xmlns:a16="http://schemas.microsoft.com/office/drawing/2014/main" id="{E32F22F9-F617-458C-617E-2F21F998FFAE}"/>
              </a:ext>
            </a:extLst>
          </p:cNvPr>
          <p:cNvSpPr txBox="1"/>
          <p:nvPr/>
        </p:nvSpPr>
        <p:spPr>
          <a:xfrm>
            <a:off x="1141413" y="4549676"/>
            <a:ext cx="8897735"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This is a chart that documents the correlation between reactant monomers and chain transfer monomers into …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Their observed product yield through their absence after certain </a:t>
            </a:r>
            <a:r>
              <a:rPr lang="en-US" dirty="0" err="1"/>
              <a:t>timesplice</a:t>
            </a:r>
            <a:r>
              <a:rPr lang="en-US" dirty="0"/>
              <a:t> intervals are measured according to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sym typeface="Wingdings" panose="05000000000000000000" pitchFamily="2" charset="2"/>
              </a:rPr>
              <a:t>The elapsed time transpired afterward (1+, 2+, 3+, 4+, 5+, 6+, and 8+ hours after initial chemical reaction.</a:t>
            </a:r>
            <a:r>
              <a:rPr lang="en-US" dirty="0"/>
              <a:t> </a:t>
            </a:r>
          </a:p>
        </p:txBody>
      </p:sp>
    </p:spTree>
    <p:extLst>
      <p:ext uri="{BB962C8B-B14F-4D97-AF65-F5344CB8AC3E}">
        <p14:creationId xmlns:p14="http://schemas.microsoft.com/office/powerpoint/2010/main" val="9022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3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000"/>
                                        <p:tgtEl>
                                          <p:spTgt spid="14"/>
                                        </p:tgtEl>
                                      </p:cBhvr>
                                    </p:animEffect>
                                    <p:anim calcmode="lin" valueType="num">
                                      <p:cBhvr>
                                        <p:cTn id="8" dur="2000" fill="hold"/>
                                        <p:tgtEl>
                                          <p:spTgt spid="14"/>
                                        </p:tgtEl>
                                        <p:attrNameLst>
                                          <p:attrName>ppt_w</p:attrName>
                                        </p:attrNameLst>
                                      </p:cBhvr>
                                      <p:tavLst>
                                        <p:tav tm="0" fmla="#ppt_w*sin(2.5*pi*$)">
                                          <p:val>
                                            <p:fltVal val="0"/>
                                          </p:val>
                                        </p:tav>
                                        <p:tav tm="100000">
                                          <p:val>
                                            <p:fltVal val="1"/>
                                          </p:val>
                                        </p:tav>
                                      </p:tavLst>
                                    </p:anim>
                                    <p:anim calcmode="lin" valueType="num">
                                      <p:cBhvr>
                                        <p:cTn id="9" dur="2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3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3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3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C9C79-3F2D-8563-591A-831CC8DE5434}"/>
              </a:ext>
            </a:extLst>
          </p:cNvPr>
          <p:cNvSpPr>
            <a:spLocks noGrp="1"/>
          </p:cNvSpPr>
          <p:nvPr>
            <p:ph type="title"/>
          </p:nvPr>
        </p:nvSpPr>
        <p:spPr>
          <a:xfrm>
            <a:off x="1141413" y="609600"/>
            <a:ext cx="9905998" cy="1031631"/>
          </a:xfrm>
        </p:spPr>
        <p:txBody>
          <a:bodyPr/>
          <a:lstStyle/>
          <a:p>
            <a:r>
              <a:rPr lang="en-US" dirty="0"/>
              <a:t>Parity Plots	</a:t>
            </a:r>
          </a:p>
        </p:txBody>
      </p:sp>
      <p:pic>
        <p:nvPicPr>
          <p:cNvPr id="19" name="Content Placeholder 18" descr="The image appears to be a series of parity plots comparing various machine learning models (LR, Ridge, Lasso, SVR, k-NN, RF, GBR, XGBoost, CatBoost, MLP) on their R2 score and MAE (Mean Absolute Error) for different values of parameters (100, 80, 60, 40, and their actual percentage counterparts). Each model is evaluated for its performance in terms of prediction accuracy and error.&#10;&#10;AI-generated content may be incorrect.">
            <a:extLst>
              <a:ext uri="{FF2B5EF4-FFF2-40B4-BE49-F238E27FC236}">
                <a16:creationId xmlns:a16="http://schemas.microsoft.com/office/drawing/2014/main" id="{CB3D84E5-8FF1-7254-620D-4CD3EAE1D475}"/>
              </a:ext>
            </a:extLst>
          </p:cNvPr>
          <p:cNvPicPr>
            <a:picLocks noGrp="1" noChangeAspect="1"/>
          </p:cNvPicPr>
          <p:nvPr>
            <p:ph idx="1"/>
          </p:nvPr>
        </p:nvPicPr>
        <p:blipFill>
          <a:blip r:embed="rId2"/>
          <a:stretch>
            <a:fillRect/>
          </a:stretch>
        </p:blipFill>
        <p:spPr>
          <a:xfrm>
            <a:off x="386080" y="1641231"/>
            <a:ext cx="7641923" cy="2227294"/>
          </a:xfrm>
          <a:prstGeom prst="rect">
            <a:avLst/>
          </a:prstGeom>
        </p:spPr>
      </p:pic>
      <p:sp>
        <p:nvSpPr>
          <p:cNvPr id="4" name="TextBox 3">
            <a:extLst>
              <a:ext uri="{FF2B5EF4-FFF2-40B4-BE49-F238E27FC236}">
                <a16:creationId xmlns:a16="http://schemas.microsoft.com/office/drawing/2014/main" id="{E56292CF-DB17-DCF1-DD6C-E49241AD7AB6}"/>
              </a:ext>
            </a:extLst>
          </p:cNvPr>
          <p:cNvSpPr txBox="1"/>
          <p:nvPr/>
        </p:nvSpPr>
        <p:spPr>
          <a:xfrm>
            <a:off x="678203" y="4062607"/>
            <a:ext cx="7057676" cy="2585323"/>
          </a:xfrm>
          <a:prstGeom prst="rect">
            <a:avLst/>
          </a:prstGeom>
          <a:noFill/>
        </p:spPr>
        <p:txBody>
          <a:bodyPr wrap="square" rtlCol="0">
            <a:spAutoFit/>
          </a:bodyPr>
          <a:lstStyle/>
          <a:p>
            <a:pPr marL="285750" indent="-285750">
              <a:buFont typeface="Arial" panose="020B0604020202020204" pitchFamily="34" charset="0"/>
              <a:buChar char="•"/>
            </a:pPr>
            <a:r>
              <a:rPr lang="en-US" dirty="0"/>
              <a:t>Actual versus Predicted values:</a:t>
            </a:r>
          </a:p>
          <a:p>
            <a:pPr marL="742950" lvl="1" indent="-285750">
              <a:buFont typeface="Arial" panose="020B0604020202020204" pitchFamily="34" charset="0"/>
              <a:buChar char="•"/>
            </a:pPr>
            <a:r>
              <a:rPr lang="en-US" dirty="0" err="1"/>
              <a:t>y_pred</a:t>
            </a:r>
            <a:r>
              <a:rPr lang="en-US" dirty="0"/>
              <a:t> = </a:t>
            </a:r>
            <a:r>
              <a:rPr lang="en-US" dirty="0" err="1"/>
              <a:t>model.predict</a:t>
            </a:r>
            <a:r>
              <a:rPr lang="en-US" dirty="0"/>
              <a:t>(</a:t>
            </a:r>
            <a:r>
              <a:rPr lang="en-US" dirty="0" err="1"/>
              <a:t>X_test</a:t>
            </a:r>
            <a:r>
              <a:rPr lang="en-US" dirty="0"/>
              <a:t>)</a:t>
            </a:r>
          </a:p>
          <a:p>
            <a:pPr marL="1200150" lvl="2" indent="-285750">
              <a:buFont typeface="Arial" panose="020B0604020202020204" pitchFamily="34" charset="0"/>
              <a:buChar char="•"/>
            </a:pPr>
            <a:r>
              <a:rPr lang="en-US" dirty="0"/>
              <a:t>x-axis: actual values (empirical), </a:t>
            </a:r>
            <a:r>
              <a:rPr lang="en-US" dirty="0" err="1"/>
              <a:t>y_test</a:t>
            </a:r>
            <a:endParaRPr lang="en-US" dirty="0"/>
          </a:p>
          <a:p>
            <a:pPr marL="1200150" lvl="2" indent="-285750">
              <a:buFont typeface="Arial" panose="020B0604020202020204" pitchFamily="34" charset="0"/>
              <a:buChar char="•"/>
            </a:pPr>
            <a:r>
              <a:rPr lang="en-US" dirty="0"/>
              <a:t>y-axis: predicted values (theoretical), </a:t>
            </a:r>
            <a:r>
              <a:rPr lang="en-US" dirty="0" err="1"/>
              <a:t>y_pred</a:t>
            </a:r>
            <a:endParaRPr lang="en-US" dirty="0"/>
          </a:p>
          <a:p>
            <a:pPr lvl="2"/>
            <a:endParaRPr lang="en-US" dirty="0"/>
          </a:p>
          <a:p>
            <a:pPr marL="285750" indent="-285750">
              <a:buFont typeface="Arial" panose="020B0604020202020204" pitchFamily="34" charset="0"/>
              <a:buChar char="•"/>
            </a:pPr>
            <a:r>
              <a:rPr lang="en-US" u="sng" dirty="0"/>
              <a:t>In layman’s terms</a:t>
            </a:r>
            <a:r>
              <a:rPr lang="en-US" dirty="0"/>
              <a:t>: how </a:t>
            </a:r>
            <a:r>
              <a:rPr lang="en-US" i="1" dirty="0"/>
              <a:t>close</a:t>
            </a:r>
            <a:r>
              <a:rPr lang="en-US" dirty="0"/>
              <a:t> observed values in product yield “match up” with predicted values from the chemical equation and molar quantities of </a:t>
            </a:r>
            <a:r>
              <a:rPr lang="en-US" dirty="0" err="1"/>
              <a:t>reactants</a:t>
            </a:r>
            <a:r>
              <a:rPr lang="en-US" dirty="0" err="1">
                <a:sym typeface="Wingdings" panose="05000000000000000000" pitchFamily="2" charset="2"/>
              </a:rPr>
              <a:t>expected</a:t>
            </a:r>
            <a:r>
              <a:rPr lang="en-US" dirty="0">
                <a:sym typeface="Wingdings" panose="05000000000000000000" pitchFamily="2" charset="2"/>
              </a:rPr>
              <a:t> product yield</a:t>
            </a:r>
            <a:r>
              <a:rPr lang="en-US" dirty="0"/>
              <a:t>.</a:t>
            </a:r>
          </a:p>
        </p:txBody>
      </p:sp>
    </p:spTree>
    <p:extLst>
      <p:ext uri="{BB962C8B-B14F-4D97-AF65-F5344CB8AC3E}">
        <p14:creationId xmlns:p14="http://schemas.microsoft.com/office/powerpoint/2010/main" val="3962625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3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additive="base">
                                        <p:cTn id="1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 calcmode="lin" valueType="num">
                                      <p:cBhvr additive="base">
                                        <p:cTn id="2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 calcmode="lin" valueType="num">
                                      <p:cBhvr additive="base">
                                        <p:cTn id="2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C4A19-D48E-BEA7-EB29-60505D0B589D}"/>
              </a:ext>
            </a:extLst>
          </p:cNvPr>
          <p:cNvSpPr>
            <a:spLocks noGrp="1"/>
          </p:cNvSpPr>
          <p:nvPr>
            <p:ph type="title"/>
          </p:nvPr>
        </p:nvSpPr>
        <p:spPr>
          <a:xfrm>
            <a:off x="1141413" y="609600"/>
            <a:ext cx="9905998" cy="474785"/>
          </a:xfrm>
        </p:spPr>
        <p:txBody>
          <a:bodyPr>
            <a:normAutofit fontScale="90000"/>
          </a:bodyPr>
          <a:lstStyle/>
          <a:p>
            <a:r>
              <a:rPr lang="en-US" dirty="0"/>
              <a:t>CV Comparison</a:t>
            </a:r>
          </a:p>
        </p:txBody>
      </p:sp>
      <p:pic>
        <p:nvPicPr>
          <p:cNvPr id="9" name="Content Placeholder 8" descr="The image depicts a bar chart comparing the average R-squared (R2) values of different machine learning models (Linear Regression, Support Vector Regression, Random Forest, Ridge Regression, Lasso, k-Nearest Neighbors, Gradient Boosting Regression, XGBoost, CatBoost, and Multi-Layer Perceptron) for a 5-fold cross-validation process.&#10;&#10;AI-generated content may be incorrect.">
            <a:extLst>
              <a:ext uri="{FF2B5EF4-FFF2-40B4-BE49-F238E27FC236}">
                <a16:creationId xmlns:a16="http://schemas.microsoft.com/office/drawing/2014/main" id="{AB093C6B-E838-D300-7914-3EEE3556A359}"/>
              </a:ext>
            </a:extLst>
          </p:cNvPr>
          <p:cNvPicPr>
            <a:picLocks noGrp="1" noChangeAspect="1"/>
          </p:cNvPicPr>
          <p:nvPr>
            <p:ph idx="1"/>
          </p:nvPr>
        </p:nvPicPr>
        <p:blipFill>
          <a:blip r:embed="rId2"/>
          <a:stretch>
            <a:fillRect/>
          </a:stretch>
        </p:blipFill>
        <p:spPr>
          <a:xfrm>
            <a:off x="1141417" y="1204549"/>
            <a:ext cx="8498645" cy="2584795"/>
          </a:xfrm>
          <a:prstGeom prst="rect">
            <a:avLst/>
          </a:prstGeom>
        </p:spPr>
      </p:pic>
      <p:sp>
        <p:nvSpPr>
          <p:cNvPr id="3" name="TextBox 2">
            <a:extLst>
              <a:ext uri="{FF2B5EF4-FFF2-40B4-BE49-F238E27FC236}">
                <a16:creationId xmlns:a16="http://schemas.microsoft.com/office/drawing/2014/main" id="{DD5899A0-A2B9-A37F-0864-2B4BC539C1FE}"/>
              </a:ext>
            </a:extLst>
          </p:cNvPr>
          <p:cNvSpPr txBox="1"/>
          <p:nvPr/>
        </p:nvSpPr>
        <p:spPr>
          <a:xfrm>
            <a:off x="87924" y="4050323"/>
            <a:ext cx="12285241" cy="2585323"/>
          </a:xfrm>
          <a:prstGeom prst="rect">
            <a:avLst/>
          </a:prstGeom>
          <a:noFill/>
        </p:spPr>
        <p:txBody>
          <a:bodyPr wrap="square" rtlCol="0">
            <a:spAutoFit/>
          </a:bodyPr>
          <a:lstStyle/>
          <a:p>
            <a:pPr marL="285750" indent="-285750">
              <a:buFont typeface="Arial" panose="020B0604020202020204" pitchFamily="34" charset="0"/>
              <a:buChar char="•"/>
            </a:pPr>
            <a:r>
              <a:rPr lang="en-US" dirty="0"/>
              <a:t>This is a visualization of a five-fold sampled cross-validation chart.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When trained and evaluated 5 times as a statistical model, the results are mean-averaged.</a:t>
            </a:r>
          </a:p>
          <a:p>
            <a:endParaRPr lang="en-US" dirty="0"/>
          </a:p>
          <a:p>
            <a:pPr marL="285750" indent="-285750">
              <a:buFont typeface="Arial" panose="020B0604020202020204" pitchFamily="34" charset="0"/>
              <a:buChar char="•"/>
            </a:pPr>
            <a:r>
              <a:rPr lang="en-US" dirty="0"/>
              <a:t>If similar scores are observed across successive empirically observed (trained) &lt;READ: SAMPLED&gt; and are congruent with mutually exclusive &lt;READ: COMPARED AGAINST&gt; (tested) test intervals known as </a:t>
            </a:r>
            <a:r>
              <a:rPr lang="en-US" i="1" dirty="0"/>
              <a:t>folds</a:t>
            </a:r>
            <a:r>
              <a:rPr lang="en-US" dirty="0"/>
              <a:t>, then the statistical model is </a:t>
            </a:r>
            <a:r>
              <a:rPr lang="en-US" b="1" dirty="0"/>
              <a:t>valid.</a:t>
            </a:r>
            <a:r>
              <a:rPr lang="en-US" dirty="0"/>
              <a:t> </a:t>
            </a:r>
          </a:p>
          <a:p>
            <a:endParaRPr lang="en-US" dirty="0"/>
          </a:p>
          <a:p>
            <a:endParaRPr lang="en-US" dirty="0"/>
          </a:p>
        </p:txBody>
      </p:sp>
    </p:spTree>
    <p:extLst>
      <p:ext uri="{BB962C8B-B14F-4D97-AF65-F5344CB8AC3E}">
        <p14:creationId xmlns:p14="http://schemas.microsoft.com/office/powerpoint/2010/main" val="2330661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3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3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3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3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F42A0-C607-9953-8DEF-C66CA4957517}"/>
              </a:ext>
            </a:extLst>
          </p:cNvPr>
          <p:cNvSpPr>
            <a:spLocks noGrp="1"/>
          </p:cNvSpPr>
          <p:nvPr>
            <p:ph type="title"/>
          </p:nvPr>
        </p:nvSpPr>
        <p:spPr/>
        <p:txBody>
          <a:bodyPr/>
          <a:lstStyle/>
          <a:p>
            <a:r>
              <a:rPr lang="en-US" dirty="0"/>
              <a:t>Monomer number was the most important predictor of conversion--graphical conclusions below:</a:t>
            </a:r>
          </a:p>
        </p:txBody>
      </p:sp>
      <p:pic>
        <p:nvPicPr>
          <p:cNvPr id="9" name="Content Placeholder 8" descr="The image presents a comparison of feature importance in SHAP (SHapley Additive exPlanation) for two different targets, highlighting the top ten features for both 'monomer' and 'CTM' categories, with numerical values indicating their impact.&#10;&#10;AI-generated content may be incorrect.">
            <a:extLst>
              <a:ext uri="{FF2B5EF4-FFF2-40B4-BE49-F238E27FC236}">
                <a16:creationId xmlns:a16="http://schemas.microsoft.com/office/drawing/2014/main" id="{33860AAF-7429-CF3A-BD2E-13D1490D0D3C}"/>
              </a:ext>
            </a:extLst>
          </p:cNvPr>
          <p:cNvPicPr>
            <a:picLocks noGrp="1" noChangeAspect="1"/>
          </p:cNvPicPr>
          <p:nvPr>
            <p:ph idx="1"/>
          </p:nvPr>
        </p:nvPicPr>
        <p:blipFill>
          <a:blip r:embed="rId2"/>
          <a:stretch>
            <a:fillRect/>
          </a:stretch>
        </p:blipFill>
        <p:spPr>
          <a:xfrm>
            <a:off x="1561956" y="2667000"/>
            <a:ext cx="9064913" cy="3124200"/>
          </a:xfrm>
          <a:prstGeom prst="rect">
            <a:avLst/>
          </a:prstGeom>
        </p:spPr>
      </p:pic>
    </p:spTree>
    <p:extLst>
      <p:ext uri="{BB962C8B-B14F-4D97-AF65-F5344CB8AC3E}">
        <p14:creationId xmlns:p14="http://schemas.microsoft.com/office/powerpoint/2010/main" val="4234624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3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1AE20-2F1A-E576-8EEA-1D82498F864C}"/>
              </a:ext>
            </a:extLst>
          </p:cNvPr>
          <p:cNvSpPr>
            <a:spLocks noGrp="1"/>
          </p:cNvSpPr>
          <p:nvPr>
            <p:ph type="title"/>
          </p:nvPr>
        </p:nvSpPr>
        <p:spPr>
          <a:xfrm>
            <a:off x="1141413" y="609600"/>
            <a:ext cx="9905998" cy="1001486"/>
          </a:xfrm>
        </p:spPr>
        <p:txBody>
          <a:bodyPr/>
          <a:lstStyle/>
          <a:p>
            <a:r>
              <a:rPr lang="en-US" dirty="0"/>
              <a:t>SHAP Waterfall Graph</a:t>
            </a:r>
          </a:p>
        </p:txBody>
      </p:sp>
      <p:pic>
        <p:nvPicPr>
          <p:cNvPr id="9" name="Content Placeholder 8" descr="The image is a bar chart depicting SHAP (SHapley Additive exPlanation) values for various molecular descriptors, indicating their impact on a predictive model's performance for a chemical property, such as conversion rate.&#10;&#10;AI-generated content may be incorrect.">
            <a:extLst>
              <a:ext uri="{FF2B5EF4-FFF2-40B4-BE49-F238E27FC236}">
                <a16:creationId xmlns:a16="http://schemas.microsoft.com/office/drawing/2014/main" id="{FD41AE93-7B12-80EA-A85E-6EC7F52CDD94}"/>
              </a:ext>
            </a:extLst>
          </p:cNvPr>
          <p:cNvPicPr>
            <a:picLocks noGrp="1" noChangeAspect="1"/>
          </p:cNvPicPr>
          <p:nvPr>
            <p:ph idx="1"/>
          </p:nvPr>
        </p:nvPicPr>
        <p:blipFill>
          <a:blip r:embed="rId2"/>
          <a:stretch>
            <a:fillRect/>
          </a:stretch>
        </p:blipFill>
        <p:spPr>
          <a:xfrm>
            <a:off x="787218" y="1428210"/>
            <a:ext cx="7675022" cy="5277114"/>
          </a:xfrm>
          <a:prstGeom prst="rect">
            <a:avLst/>
          </a:prstGeom>
        </p:spPr>
      </p:pic>
    </p:spTree>
    <p:extLst>
      <p:ext uri="{BB962C8B-B14F-4D97-AF65-F5344CB8AC3E}">
        <p14:creationId xmlns:p14="http://schemas.microsoft.com/office/powerpoint/2010/main" val="3519456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3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3787D-B5D0-B43E-9C64-E9F9137641AD}"/>
              </a:ext>
            </a:extLst>
          </p:cNvPr>
          <p:cNvSpPr>
            <a:spLocks noGrp="1"/>
          </p:cNvSpPr>
          <p:nvPr>
            <p:ph type="title"/>
          </p:nvPr>
        </p:nvSpPr>
        <p:spPr>
          <a:xfrm>
            <a:off x="1141413" y="609600"/>
            <a:ext cx="9905998" cy="1213338"/>
          </a:xfrm>
        </p:spPr>
        <p:txBody>
          <a:bodyPr/>
          <a:lstStyle/>
          <a:p>
            <a:r>
              <a:rPr lang="en-US" dirty="0"/>
              <a:t>Kinetic curves Graphs</a:t>
            </a:r>
          </a:p>
        </p:txBody>
      </p:sp>
      <p:pic>
        <p:nvPicPr>
          <p:cNvPr id="9" name="Content Placeholder 8" descr="The image displays a comparison of kinetic curves for actual versus predicted conversion rates of various chemical reactions, including TEGMA, CDTPA-APMA, and CDTPA-HEMA, over a time span of 8 hours.&#10;&#10;AI-generated content may be incorrect.">
            <a:extLst>
              <a:ext uri="{FF2B5EF4-FFF2-40B4-BE49-F238E27FC236}">
                <a16:creationId xmlns:a16="http://schemas.microsoft.com/office/drawing/2014/main" id="{5B40DA0F-7A03-60CB-CEC0-647D4D0FA75D}"/>
              </a:ext>
            </a:extLst>
          </p:cNvPr>
          <p:cNvPicPr>
            <a:picLocks noGrp="1" noChangeAspect="1"/>
          </p:cNvPicPr>
          <p:nvPr>
            <p:ph idx="1"/>
          </p:nvPr>
        </p:nvPicPr>
        <p:blipFill>
          <a:blip r:embed="rId2"/>
          <a:stretch>
            <a:fillRect/>
          </a:stretch>
        </p:blipFill>
        <p:spPr>
          <a:xfrm>
            <a:off x="0" y="1822937"/>
            <a:ext cx="12102119" cy="3482235"/>
          </a:xfrm>
          <a:prstGeom prst="rect">
            <a:avLst/>
          </a:prstGeom>
        </p:spPr>
      </p:pic>
    </p:spTree>
    <p:extLst>
      <p:ext uri="{BB962C8B-B14F-4D97-AF65-F5344CB8AC3E}">
        <p14:creationId xmlns:p14="http://schemas.microsoft.com/office/powerpoint/2010/main" val="1689976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3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E4DDD-22F4-C863-4B36-3314561546F8}"/>
              </a:ext>
            </a:extLst>
          </p:cNvPr>
          <p:cNvSpPr>
            <a:spLocks noGrp="1"/>
          </p:cNvSpPr>
          <p:nvPr>
            <p:ph type="title"/>
          </p:nvPr>
        </p:nvSpPr>
        <p:spPr>
          <a:xfrm>
            <a:off x="1141413" y="609600"/>
            <a:ext cx="9905998" cy="1382829"/>
          </a:xfrm>
        </p:spPr>
        <p:txBody>
          <a:bodyPr/>
          <a:lstStyle/>
          <a:p>
            <a:pPr algn="ctr"/>
            <a:r>
              <a:rPr lang="en-US" dirty="0"/>
              <a:t>Results summary chart Output data</a:t>
            </a:r>
            <a:br>
              <a:rPr lang="en-US" dirty="0"/>
            </a:br>
            <a:r>
              <a:rPr lang="en-US" sz="1800" dirty="0"/>
              <a:t>&lt;CTM Kinetic conversion prediction&gt;</a:t>
            </a:r>
          </a:p>
        </p:txBody>
      </p:sp>
      <p:pic>
        <p:nvPicPr>
          <p:cNvPr id="11" name="Content Placeholder 10" descr="The image presents a table comparing the performance metrics (Rￂﾲ and RMSE) of various machine learning models, including XGBoost, CatBoost, GBRT, RF, Ridge, LR, Lasso, MLP, k-NN, and SVR, across different testing scenarios.&#10;&#10;AI-generated content may be incorrect.">
            <a:extLst>
              <a:ext uri="{FF2B5EF4-FFF2-40B4-BE49-F238E27FC236}">
                <a16:creationId xmlns:a16="http://schemas.microsoft.com/office/drawing/2014/main" id="{C6B34D98-9E7F-D8F0-7E32-D2E8AE14CC82}"/>
              </a:ext>
            </a:extLst>
          </p:cNvPr>
          <p:cNvPicPr>
            <a:picLocks noGrp="1" noChangeAspect="1"/>
          </p:cNvPicPr>
          <p:nvPr>
            <p:ph idx="1"/>
          </p:nvPr>
        </p:nvPicPr>
        <p:blipFill>
          <a:blip r:embed="rId2"/>
          <a:stretch>
            <a:fillRect/>
          </a:stretch>
        </p:blipFill>
        <p:spPr>
          <a:xfrm>
            <a:off x="3489936" y="4478154"/>
            <a:ext cx="5208951" cy="1962751"/>
          </a:xfrm>
          <a:prstGeom prst="rect">
            <a:avLst/>
          </a:prstGeom>
        </p:spPr>
      </p:pic>
      <p:sp>
        <p:nvSpPr>
          <p:cNvPr id="3" name="TextBox 2">
            <a:extLst>
              <a:ext uri="{FF2B5EF4-FFF2-40B4-BE49-F238E27FC236}">
                <a16:creationId xmlns:a16="http://schemas.microsoft.com/office/drawing/2014/main" id="{1AD1CCF1-5A30-09CF-CB75-A68E60D11B98}"/>
              </a:ext>
            </a:extLst>
          </p:cNvPr>
          <p:cNvSpPr txBox="1"/>
          <p:nvPr/>
        </p:nvSpPr>
        <p:spPr>
          <a:xfrm>
            <a:off x="962527" y="1892831"/>
            <a:ext cx="7723589" cy="2462213"/>
          </a:xfrm>
          <a:prstGeom prst="rect">
            <a:avLst/>
          </a:prstGeom>
          <a:noFill/>
        </p:spPr>
        <p:txBody>
          <a:bodyPr wrap="none" rtlCol="0">
            <a:spAutoFit/>
          </a:bodyPr>
          <a:lstStyle/>
          <a:p>
            <a:r>
              <a:rPr lang="en-US" sz="1400" u="sng" dirty="0"/>
              <a:t>Conclusion</a:t>
            </a:r>
            <a:r>
              <a:rPr lang="en-US" sz="1400" dirty="0"/>
              <a:t>: Here, the </a:t>
            </a:r>
            <a:r>
              <a:rPr lang="en-US" sz="1400" dirty="0" err="1"/>
              <a:t>CatBoost</a:t>
            </a:r>
            <a:r>
              <a:rPr lang="en-US" sz="1400" dirty="0"/>
              <a:t> software code achieved the best balance </a:t>
            </a:r>
          </a:p>
          <a:p>
            <a:r>
              <a:rPr lang="en-US" sz="1400" dirty="0"/>
              <a:t>of accuracy and precision to validate stability:</a:t>
            </a:r>
          </a:p>
          <a:p>
            <a:r>
              <a:rPr lang="en-US" sz="1400" dirty="0"/>
              <a:t>	</a:t>
            </a:r>
          </a:p>
          <a:p>
            <a:pPr marL="742950" lvl="1" indent="-285750">
              <a:buFont typeface="Arial" panose="020B0604020202020204" pitchFamily="34" charset="0"/>
              <a:buChar char="•"/>
            </a:pPr>
            <a:r>
              <a:rPr lang="en-US" sz="1400" dirty="0"/>
              <a:t>Among target chain transfer monomers &lt;as experimental reactant variables&gt; </a:t>
            </a:r>
          </a:p>
          <a:p>
            <a:pPr lvl="1"/>
            <a:r>
              <a:rPr lang="en-US" sz="1400" dirty="0"/>
              <a:t>CDTPA-HEMA, CDTPA-HEAA, CDTPA-APMA that …</a:t>
            </a:r>
          </a:p>
          <a:p>
            <a:pPr lvl="1"/>
            <a:endParaRPr lang="en-US" sz="1400" dirty="0"/>
          </a:p>
          <a:p>
            <a:pPr marL="742950" lvl="1" indent="-285750">
              <a:buFont typeface="Arial" panose="020B0604020202020204" pitchFamily="34" charset="0"/>
              <a:buChar char="•"/>
            </a:pPr>
            <a:r>
              <a:rPr lang="en-US" sz="1400" dirty="0"/>
              <a:t>Bind to the lone TEGMA monomer &lt;as an empirically analyzed as a control </a:t>
            </a:r>
          </a:p>
          <a:p>
            <a:r>
              <a:rPr lang="en-US" sz="1400" dirty="0"/>
              <a:t>	reactant variable&gt; to form …</a:t>
            </a:r>
          </a:p>
          <a:p>
            <a:endParaRPr lang="en-US" sz="1400" dirty="0"/>
          </a:p>
          <a:p>
            <a:pPr marL="742950" lvl="1" indent="-285750">
              <a:buFont typeface="Arial" panose="020B0604020202020204" pitchFamily="34" charset="0"/>
              <a:buChar char="•"/>
            </a:pPr>
            <a:r>
              <a:rPr lang="en-US" sz="1400" dirty="0"/>
              <a:t>Empirically observed reaction products of molar percentage yield and </a:t>
            </a:r>
          </a:p>
          <a:p>
            <a:r>
              <a:rPr lang="en-US" sz="1400" dirty="0"/>
              <a:t>	measurable time per reaction.</a:t>
            </a:r>
          </a:p>
        </p:txBody>
      </p:sp>
    </p:spTree>
    <p:extLst>
      <p:ext uri="{BB962C8B-B14F-4D97-AF65-F5344CB8AC3E}">
        <p14:creationId xmlns:p14="http://schemas.microsoft.com/office/powerpoint/2010/main" val="537420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3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3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3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3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3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par>
                                <p:cTn id="32" presetID="10" presetClass="entr" presetSubtype="0" fill="hold" nodeType="withEffect">
                                  <p:stCondLst>
                                    <p:cond delay="30"/>
                                  </p:stCondLst>
                                  <p:childTnLst>
                                    <p:set>
                                      <p:cBhvr>
                                        <p:cTn id="33" dur="1" fill="hold">
                                          <p:stCondLst>
                                            <p:cond delay="0"/>
                                          </p:stCondLst>
                                        </p:cTn>
                                        <p:tgtEl>
                                          <p:spTgt spid="3">
                                            <p:txEl>
                                              <p:pRg st="10" end="10"/>
                                            </p:txEl>
                                          </p:spTgt>
                                        </p:tgtEl>
                                        <p:attrNameLst>
                                          <p:attrName>style.visibility</p:attrName>
                                        </p:attrNameLst>
                                      </p:cBhvr>
                                      <p:to>
                                        <p:strVal val="visible"/>
                                      </p:to>
                                    </p:set>
                                    <p:animEffect transition="in" filter="fade">
                                      <p:cBhvr>
                                        <p:cTn id="34" dur="500"/>
                                        <p:tgtEl>
                                          <p:spTgt spid="3">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3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9581</TotalTime>
  <Words>759</Words>
  <Application>Microsoft Office PowerPoint</Application>
  <PresentationFormat>Widescreen</PresentationFormat>
  <Paragraphs>86</Paragraphs>
  <Slides>16</Slides>
  <Notes>0</Notes>
  <HiddenSlides>0</HiddenSlides>
  <MMClips>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Century Gothic</vt:lpstr>
      <vt:lpstr>Wingdings</vt:lpstr>
      <vt:lpstr>Mesh</vt:lpstr>
      <vt:lpstr>AI-Driven polymer aging prediction using raman spectroscopy</vt:lpstr>
      <vt:lpstr>AI-Driven Polymer Aging Prediction and Classification System</vt:lpstr>
      <vt:lpstr>Model Architectures</vt:lpstr>
      <vt:lpstr>Project Structure (Cleaned and Current) </vt:lpstr>
      <vt:lpstr>Current Status</vt:lpstr>
      <vt:lpstr>10-Fold Stratified Cross-Validation: a Feature Ridge-coefficient Trace graph &lt;sciKit linear regression statistics library&gt;</vt:lpstr>
      <vt:lpstr>XgBoost and CatBoost Linear Regression Comparison</vt:lpstr>
      <vt:lpstr>What XGBoost Does:</vt:lpstr>
      <vt:lpstr>What catboost does:</vt:lpstr>
      <vt:lpstr>Dataset: Conversion Distributions</vt:lpstr>
      <vt:lpstr>Parity Plots </vt:lpstr>
      <vt:lpstr>CV Comparison</vt:lpstr>
      <vt:lpstr>Monomer number was the most important predictor of conversion--graphical conclusions below:</vt:lpstr>
      <vt:lpstr>SHAP Waterfall Graph</vt:lpstr>
      <vt:lpstr>Kinetic curves Graphs</vt:lpstr>
      <vt:lpstr>Results summary chart Output data &lt;CTM Kinetic conversion prediction&gt;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 cut from the same cloth: how two sacred relics can be both revered and reviled by the catholic church and why?</dc:title>
  <dc:creator>Jinku Jung</dc:creator>
  <cp:lastModifiedBy>Jinku Jung</cp:lastModifiedBy>
  <cp:revision>28</cp:revision>
  <dcterms:created xsi:type="dcterms:W3CDTF">2022-06-29T15:25:19Z</dcterms:created>
  <dcterms:modified xsi:type="dcterms:W3CDTF">2026-07-13T22:33:42Z</dcterms:modified>
</cp:coreProperties>
</file>